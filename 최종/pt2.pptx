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75" r:id="rId6"/>
    <p:sldId id="257" r:id="rId7"/>
    <p:sldId id="258" r:id="rId8"/>
    <p:sldId id="259" r:id="rId9"/>
    <p:sldId id="260" r:id="rId10"/>
    <p:sldId id="280" r:id="rId11"/>
    <p:sldId id="281" r:id="rId12"/>
    <p:sldId id="262" r:id="rId13"/>
    <p:sldId id="286" r:id="rId14"/>
    <p:sldId id="263" r:id="rId15"/>
    <p:sldId id="282" r:id="rId16"/>
    <p:sldId id="264" r:id="rId17"/>
    <p:sldId id="265" r:id="rId18"/>
    <p:sldId id="266" r:id="rId19"/>
    <p:sldId id="267" r:id="rId20"/>
    <p:sldId id="283" r:id="rId21"/>
    <p:sldId id="287" r:id="rId22"/>
    <p:sldId id="268" r:id="rId23"/>
    <p:sldId id="284" r:id="rId24"/>
    <p:sldId id="269" r:id="rId25"/>
    <p:sldId id="270" r:id="rId26"/>
    <p:sldId id="271" r:id="rId27"/>
    <p:sldId id="285" r:id="rId28"/>
    <p:sldId id="273" r:id="rId29"/>
    <p:sldId id="276" r:id="rId30"/>
    <p:sldId id="277" r:id="rId31"/>
    <p:sldId id="278" r:id="rId32"/>
    <p:sldId id="279" r:id="rId33"/>
    <p:sldId id="27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A2C"/>
    <a:srgbClr val="0066CC"/>
    <a:srgbClr val="E84509"/>
    <a:srgbClr val="7F7F7F"/>
    <a:srgbClr val="E4E4E4"/>
    <a:srgbClr val="272729"/>
    <a:srgbClr val="F5F5F5"/>
    <a:srgbClr val="F5F5F7"/>
    <a:srgbClr val="EA6939"/>
    <a:srgbClr val="FCF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F940E-A709-44BA-B689-05709370BA79}" v="2016" dt="2026-06-03T10:27:32.221"/>
    <p1510:client id="{27DD1A79-E0A3-4297-83D6-5A045ACB3AE8}" v="255" dt="2026-06-03T10:53:45.137"/>
    <p1510:client id="{69EDC5C5-B4CC-A923-3C80-324C71370C02}" v="133" dt="2026-06-03T06:37:39.975"/>
    <p1510:client id="{7A7C027C-B082-AD77-20EB-576A3F335E85}" v="307" dt="2026-06-03T10:41:28.756"/>
    <p1510:client id="{8B5C08DE-2881-41AD-9444-3A57E7246311}" v="400" dt="2026-06-03T10:38:38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문항</c:v>
                </c:pt>
              </c:strCache>
            </c:strRef>
          </c:tx>
          <c:dPt>
            <c:idx val="0"/>
            <c:bubble3D val="0"/>
            <c:spPr>
              <a:solidFill>
                <a:srgbClr val="0066CC"/>
              </a:solidFill>
            </c:spPr>
            <c:extLst>
              <c:ext xmlns:c16="http://schemas.microsoft.com/office/drawing/2014/chart" uri="{C3380CC4-5D6E-409C-BE32-E72D297353CC}">
                <c16:uniqueId val="{00000001-94DF-4E16-994F-93D6B3AE9D39}"/>
              </c:ext>
            </c:extLst>
          </c:dPt>
          <c:dPt>
            <c:idx val="1"/>
            <c:bubble3D val="0"/>
            <c:spPr>
              <a:solidFill>
                <a:srgbClr val="2997FF"/>
              </a:solidFill>
            </c:spPr>
            <c:extLst>
              <c:ext xmlns:c16="http://schemas.microsoft.com/office/drawing/2014/chart" uri="{C3380CC4-5D6E-409C-BE32-E72D297353CC}">
                <c16:uniqueId val="{00000003-94DF-4E16-994F-93D6B3AE9D39}"/>
              </c:ext>
            </c:extLst>
          </c:dPt>
          <c:dPt>
            <c:idx val="2"/>
            <c:bubble3D val="0"/>
            <c:spPr>
              <a:solidFill>
                <a:srgbClr val="5AB0FF"/>
              </a:solidFill>
            </c:spPr>
            <c:extLst>
              <c:ext xmlns:c16="http://schemas.microsoft.com/office/drawing/2014/chart" uri="{C3380CC4-5D6E-409C-BE32-E72D297353CC}">
                <c16:uniqueId val="{00000005-94DF-4E16-994F-93D6B3AE9D39}"/>
              </c:ext>
            </c:extLst>
          </c:dPt>
          <c:dPt>
            <c:idx val="3"/>
            <c:bubble3D val="0"/>
            <c:spPr>
              <a:solidFill>
                <a:srgbClr val="9AC8FF"/>
              </a:solidFill>
            </c:spPr>
            <c:extLst>
              <c:ext xmlns:c16="http://schemas.microsoft.com/office/drawing/2014/chart" uri="{C3380CC4-5D6E-409C-BE32-E72D297353CC}">
                <c16:uniqueId val="{00000007-94DF-4E16-994F-93D6B3AE9D39}"/>
              </c:ext>
            </c:extLst>
          </c:dPt>
          <c:dPt>
            <c:idx val="4"/>
            <c:bubble3D val="0"/>
            <c:spPr>
              <a:solidFill>
                <a:srgbClr val="7A7A7A"/>
              </a:solidFill>
            </c:spPr>
            <c:extLst>
              <c:ext xmlns:c16="http://schemas.microsoft.com/office/drawing/2014/chart" uri="{C3380CC4-5D6E-409C-BE32-E72D297353CC}">
                <c16:uniqueId val="{00000009-94DF-4E16-994F-93D6B3AE9D39}"/>
              </c:ext>
            </c:extLst>
          </c:dPt>
          <c:dPt>
            <c:idx val="5"/>
            <c:bubble3D val="0"/>
            <c:spPr>
              <a:solidFill>
                <a:srgbClr val="CCCCCC"/>
              </a:solidFill>
            </c:spPr>
            <c:extLst>
              <c:ext xmlns:c16="http://schemas.microsoft.com/office/drawing/2014/chart" uri="{C3380CC4-5D6E-409C-BE32-E72D297353CC}">
                <c16:uniqueId val="{0000000B-94DF-4E16-994F-93D6B3AE9D39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학사·수강 24</c:v>
                </c:pt>
                <c:pt idx="1">
                  <c:v>생활·시설 13</c:v>
                </c:pt>
                <c:pt idx="2">
                  <c:v>학과·교직원 13</c:v>
                </c:pt>
                <c:pt idx="3">
                  <c:v>장학·등록 9</c:v>
                </c:pt>
                <c:pt idx="4">
                  <c:v>첨부·표 4</c:v>
                </c:pt>
                <c:pt idx="5">
                  <c:v>공지·국제 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13</c:v>
                </c:pt>
                <c:pt idx="2">
                  <c:v>13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4DF-4E16-994F-93D6B3AE9D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100"/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0F0FD-2607-41DD-83D7-7EA97F4A0EE0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2A488-F8E4-4A8D-841A-74F49956B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1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검은거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개 처리 </a:t>
            </a:r>
            <a:r>
              <a:rPr lang="ko-KR" altLang="en-US" err="1"/>
              <a:t>어케할까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2A488-F8E4-4A8D-841A-74F49956BC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046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i.kakao.com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66CC"/>
                </a:solidFill>
                <a:latin typeface="Aptos SemiBold"/>
              </a:rPr>
              <a:t>CAPSTONE ·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39598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400" spc="-50" dirty="0">
                <a:solidFill>
                  <a:srgbClr val="1D1D1F"/>
                </a:solidFill>
                <a:latin typeface="Aptos SemiBold"/>
              </a:rPr>
              <a:t>Dong-</a:t>
            </a:r>
            <a:r>
              <a:rPr lang="en-US" sz="5400" spc="-50">
                <a:solidFill>
                  <a:srgbClr val="1D1D1F"/>
                </a:solidFill>
                <a:latin typeface="Aptos SemiBold"/>
              </a:rPr>
              <a:t>gu</a:t>
            </a:r>
            <a:endParaRPr sz="5400" spc="-50" dirty="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400" b="1" err="1">
                <a:solidFill>
                  <a:srgbClr val="333333"/>
                </a:solidFill>
                <a:latin typeface="Aptos Light"/>
              </a:rPr>
              <a:t>동의대학교</a:t>
            </a:r>
            <a:r>
              <a:rPr lang="ko-KR" altLang="en-US" sz="2400" b="1">
                <a:solidFill>
                  <a:srgbClr val="333333"/>
                </a:solidFill>
                <a:latin typeface="Aptos Light"/>
              </a:rPr>
              <a:t> </a:t>
            </a:r>
            <a:r>
              <a:rPr lang="ko-KR" altLang="en-US" sz="2400" b="1" err="1">
                <a:solidFill>
                  <a:srgbClr val="333333"/>
                </a:solidFill>
                <a:latin typeface="Aptos Light"/>
              </a:rPr>
              <a:t>학생</a:t>
            </a:r>
            <a:r>
              <a:rPr lang="ko-KR" altLang="en-US" sz="2400" b="1">
                <a:solidFill>
                  <a:srgbClr val="333333"/>
                </a:solidFill>
                <a:latin typeface="Aptos Light"/>
              </a:rPr>
              <a:t> </a:t>
            </a:r>
            <a:r>
              <a:rPr lang="ko-KR" altLang="en-US" sz="2400" b="1" err="1">
                <a:solidFill>
                  <a:srgbClr val="333333"/>
                </a:solidFill>
                <a:latin typeface="Aptos Light"/>
              </a:rPr>
              <a:t>질의응답</a:t>
            </a:r>
            <a:r>
              <a:rPr lang="ko-KR" altLang="en-US" sz="2400" b="1">
                <a:solidFill>
                  <a:srgbClr val="333333"/>
                </a:solidFill>
                <a:latin typeface="Aptos Light"/>
              </a:rPr>
              <a:t> </a:t>
            </a:r>
            <a:r>
              <a:rPr lang="en-US" altLang="ko-KR" sz="2400" b="1">
                <a:solidFill>
                  <a:srgbClr val="333333"/>
                </a:solidFill>
                <a:latin typeface="Aptos Light"/>
              </a:rPr>
              <a:t>RAG </a:t>
            </a:r>
            <a:r>
              <a:rPr lang="ko-KR" altLang="en-US" sz="2400" b="1" err="1">
                <a:solidFill>
                  <a:srgbClr val="333333"/>
                </a:solidFill>
                <a:latin typeface="Aptos Light"/>
              </a:rPr>
              <a:t>챗봇</a:t>
            </a:r>
            <a:endParaRPr lang="ko-KR" altLang="en-US" sz="2400" b="1">
              <a:solidFill>
                <a:srgbClr val="333333"/>
              </a:solidFill>
              <a:latin typeface="Aptos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10058400" cy="1642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7A7A7A"/>
                </a:solidFill>
                <a:latin typeface="Aptos"/>
              </a:rPr>
              <a:t>20212947 </a:t>
            </a:r>
            <a:r>
              <a:rPr lang="ko-KR" altLang="en-US" sz="1800" dirty="0">
                <a:solidFill>
                  <a:srgbClr val="7A7A7A"/>
                </a:solidFill>
                <a:latin typeface="Aptos"/>
              </a:rPr>
              <a:t>황현우</a:t>
            </a:r>
            <a:r>
              <a:rPr lang="en-US" altLang="ko-KR" sz="1800" dirty="0">
                <a:solidFill>
                  <a:srgbClr val="7A7A7A"/>
                </a:solidFill>
                <a:latin typeface="Aptos"/>
              </a:rPr>
              <a:t>(</a:t>
            </a:r>
            <a:r>
              <a:rPr lang="ko-KR" altLang="en-US" sz="1800" dirty="0">
                <a:solidFill>
                  <a:srgbClr val="7A7A7A"/>
                </a:solidFill>
                <a:latin typeface="Aptos"/>
              </a:rPr>
              <a:t>조장</a:t>
            </a:r>
            <a:r>
              <a:rPr lang="en-US" altLang="ko-KR" sz="1800" dirty="0">
                <a:solidFill>
                  <a:srgbClr val="7A7A7A"/>
                </a:solidFill>
                <a:latin typeface="Aptos"/>
              </a:rPr>
              <a:t>)</a:t>
            </a:r>
            <a:endParaRPr lang="en-US" sz="1800" dirty="0">
              <a:solidFill>
                <a:srgbClr val="7A7A7A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7A7A7A"/>
                </a:solidFill>
                <a:latin typeface="Aptos"/>
              </a:rPr>
              <a:t>20212923 </a:t>
            </a:r>
            <a:r>
              <a:rPr lang="ko-KR" altLang="en-US" sz="1800" dirty="0">
                <a:solidFill>
                  <a:srgbClr val="7A7A7A"/>
                </a:solidFill>
                <a:latin typeface="Aptos"/>
              </a:rPr>
              <a:t>박성환</a:t>
            </a:r>
            <a:br>
              <a:rPr lang="en-US" sz="1800" dirty="0">
                <a:solidFill>
                  <a:srgbClr val="7A7A7A"/>
                </a:solidFill>
                <a:latin typeface="Aptos"/>
              </a:rPr>
            </a:br>
            <a:r>
              <a:rPr lang="en-US" sz="1800" dirty="0">
                <a:solidFill>
                  <a:srgbClr val="7A7A7A"/>
                </a:solidFill>
                <a:latin typeface="Aptos"/>
              </a:rPr>
              <a:t>20211967 </a:t>
            </a:r>
            <a:r>
              <a:rPr lang="ko-KR" altLang="en-US" sz="1800" dirty="0">
                <a:solidFill>
                  <a:srgbClr val="7A7A7A"/>
                </a:solidFill>
                <a:latin typeface="Aptos"/>
              </a:rPr>
              <a:t>이태욱</a:t>
            </a:r>
            <a:endParaRPr lang="en-US" sz="1800" dirty="0">
              <a:solidFill>
                <a:srgbClr val="7A7A7A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7A7A7A"/>
                </a:solidFill>
                <a:latin typeface="Aptos"/>
              </a:rPr>
              <a:t>20212885 </a:t>
            </a:r>
            <a:r>
              <a:rPr lang="ko-KR" altLang="en-US" dirty="0">
                <a:solidFill>
                  <a:srgbClr val="7A7A7A"/>
                </a:solidFill>
                <a:latin typeface="Aptos"/>
              </a:rPr>
              <a:t>이지훈</a:t>
            </a:r>
            <a:endParaRPr lang="en-US" sz="1800" dirty="0">
              <a:solidFill>
                <a:srgbClr val="7A7A7A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800" dirty="0">
              <a:solidFill>
                <a:srgbClr val="7A7A7A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108192"/>
            <a:ext cx="731520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7A7A7A"/>
                </a:solidFill>
                <a:latin typeface="Aptos"/>
              </a:rPr>
              <a:t>6</a:t>
            </a:r>
            <a:r>
              <a:rPr sz="1100">
                <a:solidFill>
                  <a:srgbClr val="7A7A7A"/>
                </a:solidFill>
                <a:latin typeface="Aptos"/>
              </a:rPr>
              <a:t>조  ·  RAG · Crawler · Backend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C991D0-3238-D071-B6AA-1A5972AC49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480000">
            <a:off x="-66424" y="1290477"/>
            <a:ext cx="2987344" cy="204708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4349A-A236-4707-5A8D-27B806BA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D10B4D-4B01-E190-0B68-3F7D52B2164C}"/>
              </a:ext>
            </a:extLst>
          </p:cNvPr>
          <p:cNvSpPr txBox="1"/>
          <p:nvPr/>
        </p:nvSpPr>
        <p:spPr>
          <a:xfrm>
            <a:off x="777240" y="1320287"/>
            <a:ext cx="1063447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400" b="1" spc="-50">
                <a:solidFill>
                  <a:srgbClr val="1D1D1F"/>
                </a:solidFill>
                <a:latin typeface="Aptos SemiBold"/>
              </a:rPr>
              <a:t>목	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FA197-CE6E-E4C6-F2FE-CC5988A9C5F8}"/>
              </a:ext>
            </a:extLst>
          </p:cNvPr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F1A8C-577E-3408-8DCE-7CF3202400BD}"/>
              </a:ext>
            </a:extLst>
          </p:cNvPr>
          <p:cNvSpPr txBox="1"/>
          <p:nvPr/>
        </p:nvSpPr>
        <p:spPr>
          <a:xfrm>
            <a:off x="777240" y="2372781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0066CC"/>
                </a:solidFill>
                <a:latin typeface="Aptos SemiBold"/>
              </a:rPr>
              <a:t>01 · </a:t>
            </a:r>
            <a:r>
              <a:rPr sz="2400" err="1">
                <a:solidFill>
                  <a:srgbClr val="0066CC"/>
                </a:solidFill>
                <a:latin typeface="Aptos SemiBold"/>
              </a:rPr>
              <a:t>초기</a:t>
            </a:r>
            <a:r>
              <a:rPr sz="2400">
                <a:solidFill>
                  <a:srgbClr val="0066CC"/>
                </a:solidFill>
                <a:latin typeface="Aptos SemiBold"/>
              </a:rPr>
              <a:t> </a:t>
            </a:r>
            <a:r>
              <a:rPr sz="2400" err="1">
                <a:solidFill>
                  <a:srgbClr val="0066CC"/>
                </a:solidFill>
                <a:latin typeface="Aptos SemiBold"/>
              </a:rPr>
              <a:t>목표</a:t>
            </a:r>
            <a:endParaRPr sz="2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4ABF1-9B65-5269-AC4E-97F9B2BA0668}"/>
              </a:ext>
            </a:extLst>
          </p:cNvPr>
          <p:cNvSpPr txBox="1"/>
          <p:nvPr/>
        </p:nvSpPr>
        <p:spPr>
          <a:xfrm>
            <a:off x="777240" y="2988179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0066CC"/>
                </a:solidFill>
                <a:latin typeface="Aptos SemiBold"/>
              </a:rPr>
              <a:t>02 · </a:t>
            </a:r>
            <a:r>
              <a:rPr lang="ko-KR" altLang="en-US" sz="2400" err="1">
                <a:solidFill>
                  <a:srgbClr val="0066CC"/>
                </a:solidFill>
                <a:latin typeface="Aptos SemiBold"/>
              </a:rPr>
              <a:t>중간</a:t>
            </a:r>
            <a:r>
              <a:rPr lang="ko-KR" altLang="en-US" sz="2400">
                <a:solidFill>
                  <a:srgbClr val="0066CC"/>
                </a:solidFill>
                <a:latin typeface="Aptos SemiBold"/>
              </a:rPr>
              <a:t> </a:t>
            </a:r>
            <a:r>
              <a:rPr lang="ko-KR" altLang="en-US" sz="2400" err="1">
                <a:solidFill>
                  <a:srgbClr val="0066CC"/>
                </a:solidFill>
                <a:latin typeface="Aptos SemiBold"/>
              </a:rPr>
              <a:t>발표</a:t>
            </a:r>
            <a:r>
              <a:rPr sz="2400">
                <a:solidFill>
                  <a:srgbClr val="0066CC"/>
                </a:solidFill>
                <a:latin typeface="Aptos SemiBold"/>
              </a:rPr>
              <a:t> </a:t>
            </a:r>
            <a:r>
              <a:rPr sz="2400" err="1">
                <a:solidFill>
                  <a:srgbClr val="0066CC"/>
                </a:solidFill>
                <a:latin typeface="Aptos SemiBold"/>
              </a:rPr>
              <a:t>요약</a:t>
            </a:r>
            <a:endParaRPr sz="2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FBC67B-5601-905B-BC98-3442A66E85C9}"/>
              </a:ext>
            </a:extLst>
          </p:cNvPr>
          <p:cNvSpPr txBox="1"/>
          <p:nvPr/>
        </p:nvSpPr>
        <p:spPr>
          <a:xfrm>
            <a:off x="778764" y="3622627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0066CC"/>
                </a:solidFill>
                <a:latin typeface="Aptos SemiBold"/>
              </a:rPr>
              <a:t>03 · </a:t>
            </a:r>
            <a:r>
              <a:rPr sz="2400" err="1">
                <a:solidFill>
                  <a:srgbClr val="0066CC"/>
                </a:solidFill>
                <a:latin typeface="Aptos SemiBold"/>
              </a:rPr>
              <a:t>최종</a:t>
            </a:r>
            <a:r>
              <a:rPr sz="2400">
                <a:solidFill>
                  <a:srgbClr val="0066CC"/>
                </a:solidFill>
                <a:latin typeface="Aptos SemiBold"/>
              </a:rPr>
              <a:t> </a:t>
            </a:r>
            <a:r>
              <a:rPr sz="2400" err="1">
                <a:solidFill>
                  <a:srgbClr val="0066CC"/>
                </a:solidFill>
                <a:latin typeface="Aptos SemiBold"/>
              </a:rPr>
              <a:t>결과</a:t>
            </a:r>
            <a:r>
              <a:rPr sz="2400">
                <a:solidFill>
                  <a:srgbClr val="0066CC"/>
                </a:solidFill>
                <a:latin typeface="Aptos SemiBold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12B7C-B4C5-A05A-F266-97FDC94217A3}"/>
              </a:ext>
            </a:extLst>
          </p:cNvPr>
          <p:cNvSpPr txBox="1"/>
          <p:nvPr/>
        </p:nvSpPr>
        <p:spPr>
          <a:xfrm>
            <a:off x="778764" y="4225325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dirty="0">
                <a:solidFill>
                  <a:srgbClr val="0066CC"/>
                </a:solidFill>
                <a:latin typeface="Aptos SemiBold"/>
              </a:rPr>
              <a:t>04 · </a:t>
            </a:r>
            <a:r>
              <a:rPr sz="2400" dirty="0" err="1">
                <a:solidFill>
                  <a:srgbClr val="0066CC"/>
                </a:solidFill>
                <a:latin typeface="Aptos SemiBold"/>
              </a:rPr>
              <a:t>결론</a:t>
            </a:r>
            <a:endParaRPr sz="2400" dirty="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C1A32-539F-F82C-6085-EB4E5F109CBF}"/>
              </a:ext>
            </a:extLst>
          </p:cNvPr>
          <p:cNvSpPr txBox="1"/>
          <p:nvPr/>
        </p:nvSpPr>
        <p:spPr>
          <a:xfrm>
            <a:off x="777240" y="4834373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0066CC"/>
                </a:solidFill>
                <a:latin typeface="Aptos SemiBold"/>
              </a:rPr>
              <a:t>05 ·</a:t>
            </a:r>
            <a:r>
              <a:rPr lang="ko-KR" altLang="en-US" sz="2400">
                <a:solidFill>
                  <a:srgbClr val="0066CC"/>
                </a:solidFill>
                <a:latin typeface="Aptos SemiBold"/>
              </a:rPr>
              <a:t> 참고 문헌</a:t>
            </a:r>
            <a:endParaRPr sz="2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F5A91-1400-6FA9-4D02-D909B43849AE}"/>
              </a:ext>
            </a:extLst>
          </p:cNvPr>
          <p:cNvSpPr txBox="1"/>
          <p:nvPr/>
        </p:nvSpPr>
        <p:spPr>
          <a:xfrm>
            <a:off x="777240" y="502920"/>
            <a:ext cx="10634472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66CC"/>
                </a:solidFill>
                <a:latin typeface="Aptos SemiBold"/>
              </a:rPr>
              <a:t>CAPSTONE · FINAL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66740-C2D3-4982-F410-C929158358D4}"/>
              </a:ext>
            </a:extLst>
          </p:cNvPr>
          <p:cNvSpPr txBox="1"/>
          <p:nvPr/>
        </p:nvSpPr>
        <p:spPr>
          <a:xfrm>
            <a:off x="777240" y="5449771"/>
            <a:ext cx="10634472" cy="413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0066CC"/>
                </a:solidFill>
                <a:latin typeface="Aptos SemiBold"/>
              </a:rPr>
              <a:t>0</a:t>
            </a:r>
            <a:r>
              <a:rPr lang="en-US" sz="2400">
                <a:solidFill>
                  <a:srgbClr val="0066CC"/>
                </a:solidFill>
                <a:latin typeface="Aptos SemiBold"/>
              </a:rPr>
              <a:t>6</a:t>
            </a:r>
            <a:r>
              <a:rPr sz="2400">
                <a:solidFill>
                  <a:srgbClr val="0066CC"/>
                </a:solidFill>
                <a:latin typeface="Aptos SemiBold"/>
              </a:rPr>
              <a:t> ·</a:t>
            </a:r>
            <a:r>
              <a:rPr lang="ko-KR" altLang="en-US" sz="2400">
                <a:solidFill>
                  <a:srgbClr val="0066CC"/>
                </a:solidFill>
                <a:latin typeface="Aptos SemiBold"/>
              </a:rPr>
              <a:t> 설치 가이드</a:t>
            </a:r>
            <a:endParaRPr sz="2400">
              <a:solidFill>
                <a:srgbClr val="0066CC"/>
              </a:solidFill>
              <a:latin typeface="Apto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4151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01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초기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선정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학교 정보는 많지만, 흩어져 있어 찾기 어렵다.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34472" cy="1143000"/>
          </a:xfrm>
          <a:prstGeom prst="roundRect">
            <a:avLst>
              <a:gd name="adj" fmla="val 1120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10058400" cy="616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333333"/>
                </a:solidFill>
                <a:latin typeface="Aptos"/>
              </a:rPr>
              <a:t>“</a:t>
            </a:r>
            <a:r>
              <a:rPr sz="1500" err="1">
                <a:solidFill>
                  <a:srgbClr val="333333"/>
                </a:solidFill>
                <a:latin typeface="Aptos"/>
              </a:rPr>
              <a:t>수강신청이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언제더라</a:t>
            </a:r>
            <a:r>
              <a:rPr sz="1500">
                <a:solidFill>
                  <a:srgbClr val="333333"/>
                </a:solidFill>
                <a:latin typeface="Aptos"/>
              </a:rPr>
              <a:t>? </a:t>
            </a:r>
            <a:r>
              <a:rPr sz="1500" err="1">
                <a:solidFill>
                  <a:srgbClr val="333333"/>
                </a:solidFill>
                <a:latin typeface="Aptos"/>
              </a:rPr>
              <a:t>공지가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어디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올라왔지</a:t>
            </a:r>
            <a:r>
              <a:rPr sz="1500">
                <a:solidFill>
                  <a:srgbClr val="333333"/>
                </a:solidFill>
                <a:latin typeface="Aptos"/>
              </a:rPr>
              <a:t>…”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333333"/>
                </a:solidFill>
                <a:latin typeface="Aptos"/>
              </a:rPr>
              <a:t>“</a:t>
            </a:r>
            <a:r>
              <a:rPr sz="1500" err="1">
                <a:solidFill>
                  <a:srgbClr val="333333"/>
                </a:solidFill>
                <a:latin typeface="Aptos"/>
              </a:rPr>
              <a:t>중간고사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기간을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찾으려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게시판·학사공지·홈페이지를</a:t>
            </a:r>
            <a:r>
              <a:rPr sz="1500">
                <a:solidFill>
                  <a:srgbClr val="333333"/>
                </a:solidFill>
                <a:latin typeface="Aptos"/>
              </a:rPr>
              <a:t> 다 </a:t>
            </a:r>
            <a:r>
              <a:rPr sz="1500" err="1">
                <a:solidFill>
                  <a:srgbClr val="333333"/>
                </a:solidFill>
                <a:latin typeface="Aptos"/>
              </a:rPr>
              <a:t>뒤졌는데</a:t>
            </a:r>
            <a:r>
              <a:rPr sz="1500">
                <a:solidFill>
                  <a:srgbClr val="333333"/>
                </a:solidFill>
                <a:latin typeface="Aptos"/>
              </a:rPr>
              <a:t> </a:t>
            </a:r>
            <a:r>
              <a:rPr sz="1500" err="1">
                <a:solidFill>
                  <a:srgbClr val="333333"/>
                </a:solidFill>
                <a:latin typeface="Aptos"/>
              </a:rPr>
              <a:t>내용이</a:t>
            </a:r>
            <a:r>
              <a:rPr sz="1500">
                <a:solidFill>
                  <a:srgbClr val="333333"/>
                </a:solidFill>
                <a:latin typeface="Aptos"/>
              </a:rPr>
              <a:t> 다 </a:t>
            </a:r>
            <a:r>
              <a:rPr lang="ko-KR" altLang="en-US" sz="1500">
                <a:solidFill>
                  <a:srgbClr val="333333"/>
                </a:solidFill>
                <a:latin typeface="Aptos"/>
              </a:rPr>
              <a:t>달라</a:t>
            </a:r>
            <a:r>
              <a:rPr lang="en-US" altLang="ko-KR" sz="1500">
                <a:solidFill>
                  <a:srgbClr val="333333"/>
                </a:solidFill>
                <a:latin typeface="Aptos"/>
              </a:rPr>
              <a:t>..</a:t>
            </a:r>
            <a:r>
              <a:rPr sz="1500">
                <a:solidFill>
                  <a:srgbClr val="333333"/>
                </a:solidFill>
                <a:latin typeface="Aptos"/>
              </a:rPr>
              <a:t>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4014216"/>
            <a:ext cx="292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4672584"/>
            <a:ext cx="2923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 err="1">
                <a:solidFill>
                  <a:srgbClr val="1D1D1F"/>
                </a:solidFill>
                <a:latin typeface="Aptos SemiBold"/>
              </a:rPr>
              <a:t>자동</a:t>
            </a:r>
            <a:r>
              <a:rPr sz="1600" spc="-30">
                <a:solidFill>
                  <a:srgbClr val="1D1D1F"/>
                </a:solidFill>
                <a:latin typeface="Aptos SemiBold"/>
              </a:rPr>
              <a:t> </a:t>
            </a:r>
            <a:r>
              <a:rPr sz="1600" spc="-30" err="1">
                <a:solidFill>
                  <a:srgbClr val="1D1D1F"/>
                </a:solidFill>
                <a:latin typeface="Aptos SemiBold"/>
              </a:rPr>
              <a:t>수집</a:t>
            </a:r>
            <a:r>
              <a:rPr sz="1600" spc="-30">
                <a:solidFill>
                  <a:srgbClr val="1D1D1F"/>
                </a:solidFill>
                <a:latin typeface="Aptos SemiBold"/>
              </a:rPr>
              <a:t> </a:t>
            </a:r>
            <a:r>
              <a:rPr sz="1600" spc="-30" err="1">
                <a:solidFill>
                  <a:srgbClr val="1D1D1F"/>
                </a:solidFill>
                <a:latin typeface="Aptos SemiBold"/>
              </a:rPr>
              <a:t>크롤러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6695" y="5038344"/>
            <a:ext cx="2923032" cy="481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학교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공식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문서를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주기적으로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endParaRPr lang="ko-KR" altLang="en-US" sz="13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수집</a:t>
            </a:r>
            <a:r>
              <a:rPr lang="en-US" altLang="ko-KR" sz="1300" err="1">
                <a:solidFill>
                  <a:srgbClr val="333333"/>
                </a:solidFill>
                <a:latin typeface="Aptos"/>
              </a:rPr>
              <a:t>·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적재</a:t>
            </a:r>
            <a:endParaRPr sz="13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3504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2960" y="4014216"/>
            <a:ext cx="292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960" y="4672584"/>
            <a:ext cx="292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하이브리드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59" y="5038344"/>
            <a:ext cx="3320013" cy="231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>
                <a:solidFill>
                  <a:srgbClr val="333333"/>
                </a:solidFill>
                <a:latin typeface="Aptos"/>
              </a:rPr>
              <a:t>의미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기반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검색</a:t>
            </a:r>
            <a:r>
              <a:rPr sz="1300">
                <a:solidFill>
                  <a:srgbClr val="333333"/>
                </a:solidFill>
                <a:latin typeface="Aptos"/>
              </a:rPr>
              <a:t> +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키워드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검색을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결합</a:t>
            </a:r>
            <a:endParaRPr sz="13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9768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9224" y="4014216"/>
            <a:ext cx="292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9224" y="4672584"/>
            <a:ext cx="292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카카오톡 챗봇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9223" y="5038344"/>
            <a:ext cx="3239285" cy="231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학생이</a:t>
            </a:r>
            <a:r>
              <a:rPr sz="1300">
                <a:solidFill>
                  <a:srgbClr val="333333"/>
                </a:solidFill>
                <a:latin typeface="Aptos"/>
              </a:rPr>
              <a:t> 늘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쓰는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채널에서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언제든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질문</a:t>
            </a:r>
            <a:endParaRPr sz="13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02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중간발표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중간발표까지의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진행</a:t>
            </a:r>
            <a:endParaRPr lang="ko-KR" altLang="en-US"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00383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spc="-30">
                <a:solidFill>
                  <a:schemeClr val="tx1">
                    <a:lumMod val="65000"/>
                    <a:lumOff val="35000"/>
                  </a:schemeClr>
                </a:solidFill>
                <a:latin typeface="Aptos SemiBold"/>
              </a:rPr>
              <a:t>중간 발표 시점까지 완료한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39070"/>
            <a:ext cx="4695444" cy="1865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lang="ko-KR" altLang="en-US" sz="1400">
                <a:solidFill>
                  <a:srgbClr val="333333"/>
                </a:solidFill>
                <a:latin typeface="Aptos"/>
                <a:ea typeface="맑은 고딕"/>
              </a:rPr>
              <a:t>게시판</a:t>
            </a:r>
            <a:r>
              <a:rPr lang="en-US" altLang="ko-KR" sz="1400">
                <a:solidFill>
                  <a:srgbClr val="333333"/>
                </a:solidFill>
                <a:latin typeface="Aptos"/>
              </a:rPr>
              <a:t>·</a:t>
            </a:r>
            <a:r>
              <a:rPr lang="ko-KR" altLang="en-US" sz="1400" err="1">
                <a:solidFill>
                  <a:srgbClr val="333333"/>
                </a:solidFill>
                <a:latin typeface="Aptos"/>
              </a:rPr>
              <a:t>정적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페이지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400" err="1">
                <a:solidFill>
                  <a:srgbClr val="333333"/>
                </a:solidFill>
                <a:latin typeface="Aptos"/>
              </a:rPr>
              <a:t>수집</a:t>
            </a:r>
            <a:r>
              <a:rPr lang="ko-KR" altLang="en-US" sz="1400">
                <a:solidFill>
                  <a:srgbClr val="333333"/>
                </a:solidFill>
                <a:latin typeface="Aptos"/>
                <a:ea typeface="맑은 고딕"/>
              </a:rPr>
              <a:t> 크롤러</a:t>
            </a:r>
          </a:p>
          <a:p>
            <a:pPr algn="l">
              <a:lnSpc>
                <a:spcPct val="125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첨부</a:t>
            </a:r>
            <a:r>
              <a:rPr sz="1400">
                <a:solidFill>
                  <a:srgbClr val="333333"/>
                </a:solidFill>
                <a:latin typeface="Aptos"/>
              </a:rPr>
              <a:t>(</a:t>
            </a:r>
            <a:r>
              <a:rPr sz="1400" err="1">
                <a:solidFill>
                  <a:srgbClr val="333333"/>
                </a:solidFill>
                <a:latin typeface="Aptos"/>
              </a:rPr>
              <a:t>PDF·HWP·이미지</a:t>
            </a:r>
            <a:r>
              <a:rPr sz="1400">
                <a:solidFill>
                  <a:srgbClr val="333333"/>
                </a:solidFill>
                <a:latin typeface="Aptos"/>
              </a:rPr>
              <a:t>) </a:t>
            </a:r>
            <a:r>
              <a:rPr sz="1400" err="1">
                <a:solidFill>
                  <a:srgbClr val="333333"/>
                </a:solidFill>
                <a:latin typeface="Aptos"/>
              </a:rPr>
              <a:t>텍스트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변환</a:t>
            </a:r>
            <a:endParaRPr lang="en-US"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BM25 </a:t>
            </a:r>
            <a:r>
              <a:rPr sz="1400" err="1">
                <a:solidFill>
                  <a:srgbClr val="333333"/>
                </a:solidFill>
                <a:latin typeface="Aptos"/>
              </a:rPr>
              <a:t>어휘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검색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기초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파이프라인</a:t>
            </a:r>
            <a:endParaRPr lang="en-US"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카카오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연동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FastAPI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서버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골격</a:t>
            </a:r>
            <a:endParaRPr sz="14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7356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6812" y="1858010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spc="-30">
                <a:solidFill>
                  <a:schemeClr val="tx1">
                    <a:lumMod val="65000"/>
                    <a:lumOff val="35000"/>
                  </a:schemeClr>
                </a:solidFill>
                <a:latin typeface="Aptos SemiBold"/>
              </a:rPr>
              <a:t>중간 발표 이후 남은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812" y="2739070"/>
            <a:ext cx="4695444" cy="1326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검색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품질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개선</a:t>
            </a:r>
            <a:endParaRPr lang="en-US"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도메인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규칙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게이트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적용</a:t>
            </a:r>
            <a:endParaRPr lang="en-US"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정량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평가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프레임워크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구축</a:t>
            </a:r>
            <a:endParaRPr sz="1400" dirty="0">
              <a:solidFill>
                <a:srgbClr val="3333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379334-2930-49C9-7232-95A8C633D786}"/>
              </a:ext>
            </a:extLst>
          </p:cNvPr>
          <p:cNvSpPr/>
          <p:nvPr/>
        </p:nvSpPr>
        <p:spPr>
          <a:xfrm>
            <a:off x="6336792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세 개의 독립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Docker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컨테이너로 구성된 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수집→응답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50592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3 Docker containers · independently deployable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Crawler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collect &amp; ingest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4010706"/>
            <a:ext cx="2286000" cy="12801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32918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657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port 8001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6568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CFE98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32918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KakaoTalk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3657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external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43016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22792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" y="4654296"/>
            <a:ext cx="292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Crawl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5020056"/>
            <a:ext cx="2923032" cy="44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게시판</a:t>
            </a:r>
            <a:r>
              <a:rPr lang="en-US" altLang="ko-KR" sz="1200" dirty="0">
                <a:solidFill>
                  <a:srgbClr val="333333"/>
                </a:solidFill>
                <a:latin typeface="Aptos"/>
                <a:ea typeface="맑은 고딕"/>
              </a:rPr>
              <a:t>·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정적</a:t>
            </a:r>
            <a:r>
              <a:rPr lang="en-US" altLang="ko-KR" sz="1200" dirty="0">
                <a:solidFill>
                  <a:srgbClr val="333333"/>
                </a:solidFill>
                <a:latin typeface="Aptos"/>
                <a:ea typeface="맑은 고딕"/>
              </a:rPr>
              <a:t>·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첨부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수집</a:t>
            </a:r>
            <a:r>
              <a:rPr sz="1200" dirty="0">
                <a:solidFill>
                  <a:srgbClr val="333333"/>
                </a:solidFill>
                <a:latin typeface="Aptos"/>
              </a:rPr>
              <a:t> → </a:t>
            </a:r>
            <a:r>
              <a:rPr lang="ko-KR" altLang="en-US" sz="1200" dirty="0" err="1">
                <a:solidFill>
                  <a:srgbClr val="333333"/>
                </a:solidFill>
                <a:latin typeface="Aptos"/>
                <a:ea typeface="맑은 고딕"/>
              </a:rPr>
              <a:t>청킹</a:t>
            </a:r>
            <a:endParaRPr lang="en-US" altLang="ko-KR" sz="1200" dirty="0">
              <a:solidFill>
                <a:srgbClr val="333333"/>
              </a:solidFill>
              <a:latin typeface="Aptos"/>
              <a:ea typeface="맑은 고딕"/>
            </a:endParaRPr>
          </a:p>
          <a:p>
            <a:pPr>
              <a:lnSpc>
                <a:spcPct val="125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 → 1024차원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벡터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적재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3504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2960" y="4654296"/>
            <a:ext cx="292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Retrieve &amp;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960" y="5020056"/>
            <a:ext cx="2923032" cy="44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하이브리드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검색</a:t>
            </a:r>
            <a:r>
              <a:rPr sz="1200" dirty="0">
                <a:solidFill>
                  <a:srgbClr val="333333"/>
                </a:solidFill>
                <a:latin typeface="Aptos"/>
              </a:rPr>
              <a:t> → </a:t>
            </a:r>
            <a:r>
              <a:rPr lang="ko-KR" altLang="en-US" sz="1200" dirty="0" err="1">
                <a:solidFill>
                  <a:srgbClr val="333333"/>
                </a:solidFill>
                <a:latin typeface="Aptos"/>
                <a:ea typeface="맑은 고딕"/>
              </a:rPr>
              <a:t>다신호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dirty="0" err="1">
                <a:solidFill>
                  <a:srgbClr val="333333"/>
                </a:solidFill>
                <a:latin typeface="Aptos"/>
                <a:ea typeface="맑은 고딕"/>
              </a:rPr>
              <a:t>리랭킹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endParaRPr lang="en-US" sz="1200" dirty="0">
              <a:solidFill>
                <a:srgbClr val="333333"/>
              </a:solidFill>
              <a:latin typeface="Aptos"/>
            </a:endParaRPr>
          </a:p>
          <a:p>
            <a:pPr>
              <a:lnSpc>
                <a:spcPct val="125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→ LLM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답변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Aptos"/>
                <a:ea typeface="맑은 고딕"/>
              </a:rPr>
              <a:t>생성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9224" y="4654296"/>
            <a:ext cx="292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9224" y="5020056"/>
            <a:ext cx="2923032" cy="213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카카오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웹훅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수신</a:t>
            </a:r>
            <a:r>
              <a:rPr sz="1200">
                <a:solidFill>
                  <a:srgbClr val="333333"/>
                </a:solidFill>
                <a:latin typeface="Aptos"/>
              </a:rPr>
              <a:t> ·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사용자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잠금</a:t>
            </a:r>
            <a:r>
              <a:rPr sz="1200">
                <a:solidFill>
                  <a:srgbClr val="333333"/>
                </a:solidFill>
                <a:latin typeface="Aptos"/>
              </a:rPr>
              <a:t> ·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로그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적재</a:t>
            </a:r>
            <a:endParaRPr sz="12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7240" y="598932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3"/>
          <p:cNvSpPr/>
          <p:nvPr/>
        </p:nvSpPr>
        <p:spPr>
          <a:xfrm>
            <a:off x="3557016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39896" y="32918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9896" y="3657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port 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시스템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구성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요소</a:t>
            </a:r>
            <a:endParaRPr lang="ko-KR" altLang="en-US"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수집의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입구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(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크롤러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)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와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응답의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출구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(</a:t>
            </a:r>
            <a:r>
              <a:rPr lang="af-ZA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RAG·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백엔드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맑은 고딕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Crawler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5989320" cy="566928"/>
          </a:xfrm>
          <a:prstGeom prst="roundRect">
            <a:avLst>
              <a:gd name="adj" fmla="val 193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29443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250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9433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board + static pages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67328" y="3355848"/>
            <a:ext cx="0" cy="137160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493008"/>
            <a:ext cx="5989320" cy="566928"/>
          </a:xfrm>
          <a:prstGeom prst="roundRect">
            <a:avLst>
              <a:gd name="adj" fmla="val 193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" y="36484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291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Parse /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474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PDF · HWP · image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67328" y="4059935"/>
            <a:ext cx="0" cy="137161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4197096"/>
            <a:ext cx="5989320" cy="566928"/>
          </a:xfrm>
          <a:prstGeom prst="roundRect">
            <a:avLst>
              <a:gd name="adj" fmla="val 193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2688" y="43525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332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3515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search-unit split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4764024"/>
            <a:ext cx="0" cy="137159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901183"/>
            <a:ext cx="5989320" cy="566928"/>
          </a:xfrm>
          <a:prstGeom prst="roundRect">
            <a:avLst>
              <a:gd name="adj" fmla="val 193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2688" y="505663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ptos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3732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Embed (KoE5)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0556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dirty="0">
                <a:solidFill>
                  <a:srgbClr val="7A7A7A"/>
                </a:solidFill>
                <a:latin typeface="Aptos"/>
              </a:rPr>
              <a:t>1024-dim vector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67328" y="5468112"/>
            <a:ext cx="0" cy="137159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5605271"/>
            <a:ext cx="5989320" cy="566928"/>
          </a:xfrm>
          <a:prstGeom prst="roundRect">
            <a:avLst>
              <a:gd name="adj" fmla="val 193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" y="576071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74141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759703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pgvector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1792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Consolas"/>
              </a:rPr>
              <a:t>run/run_crawl_to_rag.py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450592"/>
            <a:ext cx="4279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Ask → Answer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2788920"/>
            <a:ext cx="4279392" cy="1600200"/>
          </a:xfrm>
          <a:prstGeom prst="roundRect">
            <a:avLst>
              <a:gd name="adj" fmla="val 1028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51775" y="3008376"/>
            <a:ext cx="38404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5" y="3374136"/>
            <a:ext cx="3840479" cy="83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카카오 웹훅 수신 · 사용자 잠금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비속어 필터 · 로그 적재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572000"/>
            <a:ext cx="4279392" cy="1600200"/>
          </a:xfrm>
          <a:prstGeom prst="roundRect">
            <a:avLst>
              <a:gd name="adj" fmla="val 1028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51775" y="4791456"/>
            <a:ext cx="38404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RAG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5157216"/>
            <a:ext cx="3840479" cy="83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검색 · 리랭킹 · 선택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규칙 게이트 · LLM 생성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72016" y="4389120"/>
            <a:ext cx="0" cy="182880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18320" y="437083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internal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FFFFFF"/>
                </a:solidFill>
                <a:latin typeface="Aptos SemiBold"/>
              </a:rPr>
              <a:t>시스템</a:t>
            </a:r>
            <a:r>
              <a:rPr lang="ko-KR" altLang="en-US" sz="3200" b="1" spc="-40">
                <a:solidFill>
                  <a:srgbClr val="FFFFF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FFFFFF"/>
                </a:solidFill>
                <a:latin typeface="Aptos SemiBold"/>
              </a:rPr>
              <a:t>설계</a:t>
            </a:r>
            <a:endParaRPr lang="ko-KR" altLang="en-US" sz="3200" b="1" spc="-40">
              <a:solidFill>
                <a:srgbClr val="FFFFF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품질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게이트와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폴백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체인으로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끝까지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답을</a:t>
            </a:r>
            <a:r>
              <a:rPr sz="1800" dirty="0">
                <a:solidFill>
                  <a:srgbClr val="CCCCCC"/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rgbClr val="CCCCCC"/>
                </a:solidFill>
                <a:latin typeface="Aptos"/>
              </a:rPr>
              <a:t>찾는다</a:t>
            </a:r>
            <a:endParaRPr sz="1800" dirty="0">
              <a:solidFill>
                <a:srgbClr val="CCCCCC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Intent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8723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Preprocess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155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80206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Embed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50638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31689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272729"/>
                </a:solidFill>
                <a:latin typeface="Aptos SemiBold"/>
              </a:rPr>
              <a:t>Retrieve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2121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83172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272729"/>
                </a:solidFill>
                <a:latin typeface="Aptos SemiBold"/>
              </a:rPr>
              <a:t>Rerank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53604" y="3108960"/>
            <a:ext cx="181052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34656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Select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5088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86139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Generate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6571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37622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Postprocess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Aptos"/>
              </a:rPr>
              <a:t>각 단계의 점수·소요시간은 state.metadata에 기록됩니다.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2997FF"/>
                </a:solidFill>
                <a:latin typeface="Aptos SemiBold"/>
              </a:rPr>
              <a:t>On quality-gate fail 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66344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vector_only_retry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992624"/>
            <a:ext cx="1609344" cy="15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chemeClr val="bg1">
                    <a:lumMod val="85000"/>
                  </a:schemeClr>
                </a:solidFill>
                <a:latin typeface="Aptos"/>
              </a:rPr>
              <a:t>drop lexical</a:t>
            </a:r>
            <a:endParaRPr lang="ko-KR" altLang="en-US" sz="900">
              <a:solidFill>
                <a:schemeClr val="bg1">
                  <a:lumMod val="85000"/>
                </a:schemeClr>
              </a:solidFill>
              <a:latin typeface="Aptos"/>
              <a:ea typeface="맑은 고딕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7180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81528" y="466344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original_query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992624"/>
            <a:ext cx="1609344" cy="15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chemeClr val="bg1">
                    <a:lumMod val="85000"/>
                  </a:schemeClr>
                </a:solidFill>
                <a:latin typeface="Aptos"/>
              </a:rPr>
              <a:t>no rewrite</a:t>
            </a:r>
            <a:endParaRPr lang="ko-KR" altLang="en-US" sz="90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800600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66359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76088" y="466344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relaxed_filters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4992624"/>
            <a:ext cx="1609344" cy="15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chemeClr val="bg1">
                    <a:lumMod val="85000"/>
                  </a:schemeClr>
                </a:solidFill>
                <a:latin typeface="Aptos"/>
              </a:rPr>
              <a:t>loosen </a:t>
            </a:r>
            <a:r>
              <a:rPr sz="900" err="1">
                <a:solidFill>
                  <a:schemeClr val="bg1">
                    <a:lumMod val="85000"/>
                  </a:schemeClr>
                </a:solidFill>
                <a:latin typeface="Aptos"/>
              </a:rPr>
              <a:t>src</a:t>
            </a:r>
            <a:r>
              <a:rPr sz="900">
                <a:solidFill>
                  <a:schemeClr val="bg1">
                    <a:lumMod val="85000"/>
                  </a:schemeClr>
                </a:solidFill>
                <a:latin typeface="Aptos"/>
              </a:rPr>
              <a:t>/type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95159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60919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70647" y="466344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increase_top_k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7" y="4992624"/>
            <a:ext cx="1609344" cy="15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chemeClr val="bg1">
                    <a:lumMod val="85000"/>
                  </a:schemeClr>
                </a:solidFill>
                <a:latin typeface="Aptos"/>
              </a:rPr>
              <a:t>widen candidates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89719" y="4956048"/>
            <a:ext cx="36576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5548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65207" y="466344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lexical_only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5207" y="4992624"/>
            <a:ext cx="1609344" cy="156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bg1">
                    <a:lumMod val="85000"/>
                  </a:schemeClr>
                </a:solidFill>
                <a:latin typeface="Aptos"/>
              </a:rPr>
              <a:t>BM25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순서는 RAG_FALLBACK_ORDER로 설정 가능.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RAG 파이프라인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질문 하나가 거치는 단계와 분기 — 실제 코드 흐름 기반.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INFO 판정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90572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90572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5436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dirty="0">
                <a:solidFill>
                  <a:srgbClr val="7A7A7A"/>
                </a:solidFill>
                <a:latin typeface="Aptos"/>
              </a:rPr>
              <a:t>정규화·키워드·재작성×4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62172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03904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3904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dirty="0">
                <a:solidFill>
                  <a:srgbClr val="7A7A7A"/>
                </a:solidFill>
                <a:latin typeface="Aptos"/>
              </a:rPr>
              <a:t>KoE5 1024-d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5504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17236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7236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Aptos SemiBold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099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  <a:latin typeface="Aptos"/>
              </a:rPr>
              <a:t>lexical+vector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88836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0568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Aptos SemiBold"/>
              </a:rPr>
              <a:t>Rerank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1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  <a:latin typeface="Aptos"/>
              </a:rPr>
              <a:t>다신호 점수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02167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43900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3900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8764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dedup·top-k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5500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57232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57232" y="26700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999232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LLM 생성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43000" y="3328415"/>
            <a:ext cx="0" cy="420624"/>
          </a:xfrm>
          <a:prstGeom prst="line">
            <a:avLst/>
          </a:prstGeom>
          <a:ln w="15240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" y="3749039"/>
            <a:ext cx="2331720" cy="566928"/>
          </a:xfrm>
          <a:prstGeom prst="roundRect">
            <a:avLst>
              <a:gd name="adj" fmla="val 1935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3822191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non-INFO / 비속어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→ 검색 생략·직접 응답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3036" y="3328415"/>
            <a:ext cx="0" cy="493776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60520" y="3822191"/>
            <a:ext cx="1554480" cy="50292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 SemiBold"/>
              </a:rPr>
              <a:t>Lexical · BM25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4443984"/>
            <a:ext cx="1554480" cy="50292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60520" y="45537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 SemiBold"/>
              </a:rPr>
              <a:t>Vector · KoE5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114800"/>
            <a:ext cx="1874519" cy="566928"/>
          </a:xfrm>
          <a:prstGeom prst="roundRect">
            <a:avLst>
              <a:gd name="adj" fmla="val 19354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4206240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Aptos SemiBold"/>
              </a:rPr>
              <a:t>Hybrid Fusion</a:t>
            </a:r>
          </a:p>
          <a:p>
            <a:pPr algn="ctr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Aptos SemiBold"/>
              </a:rPr>
              <a:t>SRRF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15000" y="4069080"/>
            <a:ext cx="731520" cy="22860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15000" y="4498848"/>
            <a:ext cx="731520" cy="192024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46520" y="4718304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→ Rerank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822191"/>
            <a:ext cx="2542032" cy="566928"/>
          </a:xfrm>
          <a:prstGeom prst="roundRect">
            <a:avLst>
              <a:gd name="adj" fmla="val 1935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61120" y="389534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규칙 게이트 적중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→ 구조화 답변 (LLM 우회)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543032" y="3328415"/>
            <a:ext cx="0" cy="493776"/>
          </a:xfrm>
          <a:prstGeom prst="line">
            <a:avLst/>
          </a:prstGeom>
          <a:ln w="15240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77240" y="54406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단계별 점수·소요시간은 state.metadata에 누적 · 품질 게이트 미달 시 폴백 체인으로 재검색.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파이프라인 상세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검색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설계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en-US" altLang="ko-KR" sz="3200" b="1" spc="-40">
                <a:solidFill>
                  <a:srgbClr val="1D1D1F"/>
                </a:solidFill>
                <a:latin typeface="Aptos SemiBold"/>
              </a:rPr>
              <a:t>—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융합과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품질</a:t>
            </a:r>
            <a:endParaRPr lang="ko-KR" altLang="en-US"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어휘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·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벡터를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합치고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,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도메인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신호로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노이즈를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거른다</a:t>
            </a:r>
            <a:r>
              <a:rPr sz="1800">
                <a:solidFill>
                  <a:srgbClr val="7A7A7A"/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4279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Score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44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weighted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809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lexical .55 + vector .45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4787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5818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Reciprocal Rank 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32511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4389120"/>
            <a:ext cx="4279392" cy="713232"/>
          </a:xfrm>
          <a:prstGeom prst="roundRect">
            <a:avLst>
              <a:gd name="adj" fmla="val 1282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49884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srrf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354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Softmax-RRF · 운영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7608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1266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max of two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7959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22392" y="245059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Retrieval-quality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834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source_type prefilter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529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source_policy.py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noise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2392" y="3200400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22392" y="33101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exchange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32841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retriever.py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310128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혼입 방지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2392" y="3675888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22392" y="37856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sub03 URL 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8039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retriever.py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78561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이수표 rank↑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2392" y="4151376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22392" y="42611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attachment exempt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2793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26110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커리큘럼 보호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392" y="4626864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22392" y="4736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dept boost/penalty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75487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736592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타 학과 억제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2392" y="5102352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22392" y="521207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career boost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5230367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5212079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취업 페이지 우선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22392" y="5577840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검색 융합 — RRF vs SRRF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순위만 보는 RRF에서, ‘강한 1등’까지 보는 SRRF로.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498348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651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1D1D1F"/>
                </a:solidFill>
                <a:latin typeface="Aptos SemiBold"/>
              </a:rPr>
              <a:t>RRF — 순위 기반 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54096"/>
            <a:ext cx="4617720" cy="66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점수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대신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순위만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사용</a:t>
            </a:r>
            <a:r>
              <a:rPr sz="1200" dirty="0">
                <a:solidFill>
                  <a:srgbClr val="333333"/>
                </a:solidFill>
                <a:latin typeface="Aptos"/>
              </a:rPr>
              <a:t>. BM25 1등 +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벡터</a:t>
            </a:r>
            <a:r>
              <a:rPr sz="1200" dirty="0">
                <a:solidFill>
                  <a:srgbClr val="333333"/>
                </a:solidFill>
                <a:latin typeface="Aptos"/>
              </a:rPr>
              <a:t> 3등이면 두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순위를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점수로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endParaRPr lang="en-US" sz="12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2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바꿔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합산</a:t>
            </a:r>
            <a:r>
              <a:rPr lang="en-US"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>
                <a:solidFill>
                  <a:srgbClr val="333333"/>
                </a:solidFill>
                <a:latin typeface="Aptos"/>
              </a:rPr>
              <a:t> “두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검색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모두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상위권인가</a:t>
            </a:r>
            <a:r>
              <a:rPr sz="1200" dirty="0">
                <a:solidFill>
                  <a:srgbClr val="333333"/>
                </a:solidFill>
                <a:latin typeface="Aptos"/>
              </a:rPr>
              <a:t>?”를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평가</a:t>
            </a:r>
            <a:r>
              <a:rPr sz="1200" dirty="0">
                <a:solidFill>
                  <a:srgbClr val="333333"/>
                </a:solidFill>
                <a:latin typeface="Aptos"/>
              </a:rPr>
              <a:t>.</a:t>
            </a:r>
          </a:p>
          <a:p>
            <a:pPr algn="l">
              <a:lnSpc>
                <a:spcPct val="122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단,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압도적</a:t>
            </a:r>
            <a:r>
              <a:rPr sz="1200" dirty="0">
                <a:solidFill>
                  <a:srgbClr val="333333"/>
                </a:solidFill>
                <a:latin typeface="Aptos"/>
              </a:rPr>
              <a:t> 1등과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간신히</a:t>
            </a:r>
            <a:r>
              <a:rPr sz="1200" dirty="0">
                <a:solidFill>
                  <a:srgbClr val="333333"/>
                </a:solidFill>
                <a:latin typeface="Aptos"/>
              </a:rPr>
              <a:t> 1등을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구분하지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못함</a:t>
            </a:r>
            <a:r>
              <a:rPr sz="1200" dirty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24528"/>
            <a:ext cx="4983480" cy="1691640"/>
          </a:xfrm>
          <a:prstGeom prst="roundRect">
            <a:avLst>
              <a:gd name="adj" fmla="val 7567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224528"/>
            <a:ext cx="4983480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389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SRRF — Softmax-RRF · 운영 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791456"/>
            <a:ext cx="4617720" cy="66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RRF에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Softmax를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더해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점수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분포를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반영</a:t>
            </a:r>
            <a:r>
              <a:rPr sz="1200" dirty="0">
                <a:solidFill>
                  <a:srgbClr val="333333"/>
                </a:solidFill>
                <a:latin typeface="Aptos"/>
              </a:rPr>
              <a:t>. “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상위권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중에서도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얼마나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강한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후보인가”까지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평가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endParaRPr lang="en-US" sz="12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2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→ 두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검색이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모두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강하게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지지하는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문서가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상단으로</a:t>
            </a:r>
            <a:endParaRPr sz="1200" dirty="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0" y="2432304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융합 방식 비교 — 골드셋 66문항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98064"/>
            <a:ext cx="201168" cy="1463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7432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Top-1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798064"/>
            <a:ext cx="201168" cy="146304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152" y="27432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Context Hit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57166"/>
            <a:ext cx="475488" cy="86639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31152" y="3822192"/>
            <a:ext cx="475488" cy="1801367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50113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0066CC"/>
                </a:solidFill>
                <a:latin typeface="Aptos SemiBold"/>
              </a:rPr>
              <a:t>37.9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56616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2997FF"/>
                </a:solidFill>
                <a:latin typeface="Aptos SemiBold"/>
              </a:rPr>
              <a:t>78.8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67842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가중합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377690"/>
            <a:ext cx="475488" cy="12458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22792" y="3719322"/>
            <a:ext cx="475488" cy="1904238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4121658"/>
            <a:ext cx="566928" cy="182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dirty="0">
                <a:solidFill>
                  <a:srgbClr val="0066CC"/>
                </a:solidFill>
                <a:latin typeface="Aptos SemiBold"/>
              </a:rPr>
              <a:t>5</a:t>
            </a:r>
            <a:r>
              <a:rPr lang="en-US" sz="1050" dirty="0">
                <a:solidFill>
                  <a:srgbClr val="0066CC"/>
                </a:solidFill>
                <a:latin typeface="Aptos SemiBold"/>
              </a:rPr>
              <a:t>0</a:t>
            </a:r>
            <a:r>
              <a:rPr sz="1050" dirty="0">
                <a:solidFill>
                  <a:srgbClr val="0066CC"/>
                </a:solidFill>
                <a:latin typeface="Aptos SemiBold"/>
              </a:rPr>
              <a:t>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463290"/>
            <a:ext cx="566928" cy="182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997FF"/>
                </a:solidFill>
                <a:latin typeface="Aptos SemiBold"/>
              </a:rPr>
              <a:t>79</a:t>
            </a:r>
            <a:r>
              <a:rPr sz="1050" dirty="0">
                <a:solidFill>
                  <a:srgbClr val="2997FF"/>
                </a:solidFill>
                <a:latin typeface="Aptos SemiBold"/>
              </a:rPr>
              <a:t>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67842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RRF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200400"/>
            <a:ext cx="1371600" cy="2441448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4341114"/>
            <a:ext cx="475488" cy="128244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14432" y="3685032"/>
            <a:ext cx="475488" cy="1938528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59" y="408508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0066CC"/>
                </a:solidFill>
                <a:latin typeface="Aptos SemiBold"/>
              </a:rPr>
              <a:t>56.1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1" y="342900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2997FF"/>
                </a:solidFill>
                <a:latin typeface="Aptos SemiBold"/>
              </a:rPr>
              <a:t>84.8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67842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SRRF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623560"/>
            <a:ext cx="53766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19048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SRRF가 Top-1·Context Hit 모두 1위 → 운영 기본값으로 채택.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검색 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데이터베이스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구성</a:t>
            </a:r>
            <a:endParaRPr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수집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문서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저장과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RAG </a:t>
            </a:r>
            <a:r>
              <a:rPr lang="ko-K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로그로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나뉜다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2688" y="280263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5786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title · source · url (meta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688" y="367131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4472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document_contents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raw/clean/table/attachment/image/html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2688" y="449427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3159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search-unit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" y="531723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0932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chunk_embeddings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0066CC"/>
                </a:solidFill>
                <a:latin typeface="Aptos"/>
              </a:rPr>
              <a:t>1024-dim vector (</a:t>
            </a:r>
            <a:r>
              <a:rPr sz="1100" dirty="0" err="1">
                <a:solidFill>
                  <a:srgbClr val="0066CC"/>
                </a:solidFill>
                <a:latin typeface="Aptos"/>
              </a:rPr>
              <a:t>pgvector</a:t>
            </a:r>
            <a:r>
              <a:rPr sz="1100" dirty="0">
                <a:solidFill>
                  <a:srgbClr val="0066CC"/>
                </a:solidFill>
                <a:latin typeface="Aptos"/>
              </a:rPr>
              <a:t>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3108960"/>
            <a:ext cx="0" cy="18288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" y="3977639"/>
            <a:ext cx="0" cy="182881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" y="4846320"/>
            <a:ext cx="0" cy="18288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" y="3566160"/>
            <a:ext cx="274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1:N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5010912" cy="208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>
                <a:solidFill>
                  <a:srgbClr val="0066CC"/>
                </a:solidFill>
                <a:latin typeface="Aptos SemiBold"/>
              </a:rPr>
              <a:t>질의</a:t>
            </a:r>
            <a:r>
              <a:rPr sz="1200">
                <a:solidFill>
                  <a:srgbClr val="0066CC"/>
                </a:solidFill>
                <a:latin typeface="Aptos SemiBold"/>
              </a:rPr>
              <a:t>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88920"/>
            <a:ext cx="5010912" cy="1051560"/>
          </a:xfrm>
          <a:prstGeom prst="roundRect">
            <a:avLst>
              <a:gd name="adj" fmla="val 10434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2990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query_logs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558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질문 · 의도 · 카테고리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977639"/>
            <a:ext cx="5010912" cy="1051560"/>
          </a:xfrm>
          <a:prstGeom prst="roundRect">
            <a:avLst>
              <a:gd name="adj" fmla="val 10434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178807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response_logs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445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LLM 응답 · 지연시간(ms)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66360"/>
            <a:ext cx="5010912" cy="1051560"/>
          </a:xfrm>
          <a:prstGeom prst="roundRect">
            <a:avLst>
              <a:gd name="adj" fmla="val 10434"/>
            </a:avLst>
          </a:prstGeom>
          <a:solidFill>
            <a:schemeClr val="bg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367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retrieval_logs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7332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검색 전략 · 점수 · 사용 청크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163056"/>
            <a:ext cx="91440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6126480"/>
            <a:ext cx="1005840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dirty="0">
                <a:solidFill>
                  <a:schemeClr val="bg1">
                    <a:lumMod val="49000"/>
                  </a:schemeClr>
                </a:solidFill>
                <a:latin typeface="Aptos"/>
              </a:rPr>
              <a:t>현재 </a:t>
            </a:r>
            <a:r>
              <a:rPr lang="en-US" sz="1100" dirty="0">
                <a:solidFill>
                  <a:schemeClr val="bg1">
                    <a:lumMod val="49000"/>
                  </a:schemeClr>
                </a:solidFill>
                <a:latin typeface="Aptos"/>
              </a:rPr>
              <a:t>documents ≈ 9,500 · chunks ≈ 17,000 </a:t>
            </a:r>
            <a:r>
              <a:rPr lang="ko-KR" altLang="en-US" sz="1100" dirty="0">
                <a:solidFill>
                  <a:schemeClr val="bg1">
                    <a:lumMod val="49000"/>
                  </a:schemeClr>
                </a:solidFill>
                <a:latin typeface="Aptos"/>
              </a:rPr>
              <a:t>적재</a:t>
            </a:r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수집 규모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dirty="0">
                <a:solidFill>
                  <a:srgbClr val="7A7A7A"/>
                </a:solidFill>
                <a:latin typeface="Aptos"/>
              </a:rPr>
              <a:t>144개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시드에서</a:t>
            </a:r>
            <a:r>
              <a:rPr sz="1800" dirty="0">
                <a:solidFill>
                  <a:srgbClr val="7A7A7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출발해</a:t>
            </a:r>
            <a:r>
              <a:rPr sz="1800" dirty="0">
                <a:solidFill>
                  <a:srgbClr val="7A7A7A"/>
                </a:solidFill>
                <a:latin typeface="Aptos"/>
              </a:rPr>
              <a:t> 약 17,000개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청크까지</a:t>
            </a:r>
            <a:r>
              <a:rPr sz="1800" dirty="0">
                <a:solidFill>
                  <a:srgbClr val="7A7A7A"/>
                </a:solidFill>
                <a:latin typeface="Aptos"/>
              </a:rPr>
              <a:t> —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학교</a:t>
            </a:r>
            <a:r>
              <a:rPr sz="1800" dirty="0">
                <a:solidFill>
                  <a:srgbClr val="7A7A7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정보를</a:t>
            </a:r>
            <a:r>
              <a:rPr sz="1800" dirty="0">
                <a:solidFill>
                  <a:srgbClr val="7A7A7A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7A7A7A"/>
                </a:solidFill>
                <a:latin typeface="Aptos"/>
              </a:rPr>
              <a:t>통째로</a:t>
            </a:r>
            <a:r>
              <a:rPr sz="1800" dirty="0">
                <a:solidFill>
                  <a:srgbClr val="7A7A7A"/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dirty="0" err="1">
                <a:solidFill>
                  <a:srgbClr val="0066CC"/>
                </a:solidFill>
                <a:latin typeface="Aptos SemiBold"/>
              </a:rPr>
              <a:t>수집</a:t>
            </a:r>
            <a:r>
              <a:rPr sz="1400" dirty="0">
                <a:solidFill>
                  <a:srgbClr val="0066CC"/>
                </a:solidFill>
                <a:latin typeface="Aptos SemiBold"/>
              </a:rPr>
              <a:t> </a:t>
            </a:r>
            <a:r>
              <a:rPr sz="1400" dirty="0" err="1">
                <a:solidFill>
                  <a:srgbClr val="0066CC"/>
                </a:solidFill>
                <a:latin typeface="Aptos SemiBold"/>
              </a:rPr>
              <a:t>대상</a:t>
            </a:r>
            <a:r>
              <a:rPr sz="1400" dirty="0">
                <a:solidFill>
                  <a:srgbClr val="0066CC"/>
                </a:solidFill>
                <a:latin typeface="Aptos SemiBold"/>
              </a:rPr>
              <a:t> — </a:t>
            </a:r>
            <a:r>
              <a:rPr sz="1400" dirty="0" err="1">
                <a:solidFill>
                  <a:srgbClr val="0066CC"/>
                </a:solidFill>
                <a:latin typeface="Aptos SemiBold"/>
              </a:rPr>
              <a:t>시드</a:t>
            </a:r>
            <a:r>
              <a:rPr sz="1400" dirty="0">
                <a:solidFill>
                  <a:srgbClr val="0066CC"/>
                </a:solidFill>
                <a:latin typeface="Aptos SemiBold"/>
              </a:rPr>
              <a:t> 144개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정적 안내 페이지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971800"/>
            <a:ext cx="2598420" cy="23774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1580" y="29722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1D1D1F"/>
                </a:solidFill>
                <a:latin typeface="Aptos SemiBold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112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게시판(목록)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538728"/>
            <a:ext cx="419100" cy="23774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2260" y="3539189"/>
            <a:ext cx="73152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/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5120640" cy="960120"/>
          </a:xfrm>
          <a:prstGeom prst="roundRect">
            <a:avLst>
              <a:gd name="adj" fmla="val 11428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1596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학과·기관·입학·기숙사·도서관 등 50여 개 부서·기관을 출처 단위로 분류해 수집.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505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첨부 파서 — 7종 형식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HWP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HWPX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XLSX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28632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PPTX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50791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이미지·OCR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67751"/>
            <a:ext cx="5120640" cy="428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PDF·HWP·이미지의</a:t>
            </a:r>
            <a:r>
              <a:rPr sz="1200" dirty="0">
                <a:solidFill>
                  <a:srgbClr val="333333"/>
                </a:solidFill>
                <a:latin typeface="Aptos"/>
              </a:rPr>
              <a:t> 표/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텍스트를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파서와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한국어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OCR로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추출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endParaRPr lang="en-US" sz="12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200" dirty="0">
                <a:solidFill>
                  <a:srgbClr val="333333"/>
                </a:solidFill>
                <a:latin typeface="Aptos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검색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가능한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청크로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변환</a:t>
            </a:r>
            <a:r>
              <a:rPr sz="1200" dirty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34924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338328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 dirty="0">
                <a:solidFill>
                  <a:srgbClr val="0066CC"/>
                </a:solidFill>
                <a:latin typeface="Aptos SemiBold"/>
              </a:rPr>
              <a:t>≈ </a:t>
            </a:r>
            <a:r>
              <a:rPr lang="en-US" sz="3400" spc="-50" dirty="0">
                <a:solidFill>
                  <a:srgbClr val="0066CC"/>
                </a:solidFill>
                <a:latin typeface="Aptos SemiBold"/>
              </a:rPr>
              <a:t>9,500</a:t>
            </a:r>
            <a:endParaRPr sz="3400" spc="-50" dirty="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60899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수집 문서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486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>
                <a:solidFill>
                  <a:srgbClr val="0066CC"/>
                </a:solidFill>
                <a:latin typeface="Aptos SemiBold"/>
              </a:rPr>
              <a:t>≈ 17,000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60899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검색 청크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5486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>
                <a:solidFill>
                  <a:srgbClr val="0066CC"/>
                </a:solidFill>
                <a:latin typeface="Aptos SemiBold"/>
              </a:rP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60899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부서·기관 출처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수집 규모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FFFFFF"/>
                </a:solidFill>
                <a:latin typeface="Aptos SemiBold"/>
              </a:rPr>
              <a:t>소스</a:t>
            </a:r>
            <a:r>
              <a:rPr lang="ko-KR" altLang="en-US" sz="3200" b="1" spc="-40">
                <a:solidFill>
                  <a:srgbClr val="FFFFF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FFFFFF"/>
                </a:solidFill>
                <a:latin typeface="Aptos SemiBold"/>
              </a:rPr>
              <a:t>파일</a:t>
            </a:r>
            <a:r>
              <a:rPr lang="ko-KR" altLang="en-US" sz="3200" b="1" spc="-40">
                <a:solidFill>
                  <a:srgbClr val="FFFFF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FFFFFF"/>
                </a:solidFill>
                <a:latin typeface="Aptos SemiBold"/>
              </a:rPr>
              <a:t>구성</a:t>
            </a:r>
            <a:endParaRPr lang="ko-KR" altLang="en-US" sz="3200" b="1" spc="-40">
              <a:solidFill>
                <a:srgbClr val="FFFFF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Aptos"/>
              </a:rPr>
              <a:t>3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  <a:ea typeface="맑은 고딕"/>
              </a:rPr>
              <a:t>개의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bg1">
                    <a:lumMod val="85000"/>
                  </a:schemeClr>
                </a:solidFill>
                <a:latin typeface="Aptos"/>
              </a:rPr>
              <a:t>컨테이너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bg1">
                    <a:lumMod val="85000"/>
                  </a:schemeClr>
                </a:solidFill>
                <a:latin typeface="Aptos"/>
              </a:rPr>
              <a:t>단위로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bg1">
                    <a:lumMod val="85000"/>
                  </a:schemeClr>
                </a:solidFill>
                <a:latin typeface="Aptos"/>
              </a:rPr>
              <a:t>정리한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bg1">
                    <a:lumMod val="85000"/>
                  </a:schemeClr>
                </a:solidFill>
                <a:latin typeface="Aptos"/>
              </a:rPr>
              <a:t>핵심</a:t>
            </a:r>
            <a:r>
              <a:rPr lang="ko-KR" altLang="en-US" sz="18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bg1">
                    <a:lumMod val="85000"/>
                  </a:schemeClr>
                </a:solidFill>
                <a:latin typeface="Aptos"/>
              </a:rPr>
              <a:t>모듈</a:t>
            </a:r>
            <a:r>
              <a:rPr lang="en-US" altLang="ko-KR" sz="180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13504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9768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10634472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100">
                <a:solidFill>
                  <a:schemeClr val="bg1">
                    <a:lumMod val="85000"/>
                  </a:schemeClr>
                </a:solidFill>
                <a:latin typeface="Aptos"/>
                <a:ea typeface="맑은 고딕"/>
              </a:rPr>
              <a:t>3</a:t>
            </a:r>
            <a:r>
              <a:rPr lang="ko-KR" altLang="en-US" sz="1100">
                <a:solidFill>
                  <a:schemeClr val="bg1">
                    <a:lumMod val="85000"/>
                  </a:schemeClr>
                </a:solidFill>
                <a:latin typeface="Aptos"/>
                <a:ea typeface="맑은 고딕"/>
              </a:rPr>
              <a:t>개의 </a:t>
            </a:r>
            <a:r>
              <a:rPr lang="ko-KR" altLang="en-US" sz="1100" err="1">
                <a:solidFill>
                  <a:schemeClr val="bg1">
                    <a:lumMod val="85000"/>
                  </a:schemeClr>
                </a:solidFill>
                <a:latin typeface="Aptos"/>
              </a:rPr>
              <a:t>컨테이너</a:t>
            </a:r>
            <a:r>
              <a:rPr lang="ko-KR" altLang="en-US" sz="11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en-US" altLang="ko-KR" sz="1100">
                <a:solidFill>
                  <a:schemeClr val="bg1">
                    <a:lumMod val="85000"/>
                  </a:schemeClr>
                </a:solidFill>
                <a:latin typeface="Aptos"/>
              </a:rPr>
              <a:t>· </a:t>
            </a:r>
            <a:r>
              <a:rPr lang="ko-KR" altLang="en-US" sz="1100" err="1">
                <a:solidFill>
                  <a:schemeClr val="bg1">
                    <a:lumMod val="85000"/>
                  </a:schemeClr>
                </a:solidFill>
                <a:latin typeface="Aptos"/>
              </a:rPr>
              <a:t>하나의</a:t>
            </a:r>
            <a:r>
              <a:rPr lang="ko-KR" altLang="en-US" sz="110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lang="ko-KR" altLang="en-US" sz="1100" err="1">
                <a:solidFill>
                  <a:schemeClr val="bg1">
                    <a:lumMod val="85000"/>
                  </a:schemeClr>
                </a:solidFill>
                <a:latin typeface="Aptos"/>
              </a:rPr>
              <a:t>파이프라인</a:t>
            </a:r>
            <a:r>
              <a:rPr lang="en-US" altLang="ko-KR" sz="110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2697480"/>
            <a:ext cx="2923032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latin typeface="Aptos SemiBold"/>
              </a:rPr>
              <a:t>rag/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5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2960" y="2697480"/>
            <a:ext cx="2923032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latin typeface="Aptos SemiBold"/>
              </a:rPr>
              <a:t>backend/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2960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2960" y="3246120"/>
            <a:ext cx="2977896" cy="159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150" err="1">
                <a:latin typeface="Consolas"/>
              </a:rPr>
              <a:t>api</a:t>
            </a:r>
            <a:r>
              <a:rPr sz="1150">
                <a:latin typeface="Consolas"/>
              </a:rPr>
              <a:t>/{chat, </a:t>
            </a:r>
            <a:r>
              <a:rPr lang="en-US" sz="1150" err="1">
                <a:latin typeface="Consolas"/>
              </a:rPr>
              <a:t>kakao</a:t>
            </a:r>
            <a:r>
              <a:rPr sz="1150">
                <a:latin typeface="Consolas"/>
              </a:rPr>
              <a:t>, health}</a:t>
            </a:r>
            <a:endParaRPr lang="ko-KR" altLang="en-US" sz="115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>
                <a:latin typeface="Consolas"/>
              </a:rPr>
              <a:t>services/</a:t>
            </a:r>
            <a:r>
              <a:rPr sz="1150" err="1">
                <a:latin typeface="Consolas"/>
              </a:rPr>
              <a:t>rag_client</a:t>
            </a:r>
            <a:endParaRPr sz="115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>
                <a:latin typeface="Consolas"/>
              </a:rPr>
              <a:t>utils/{</a:t>
            </a:r>
            <a:r>
              <a:rPr sz="1150" err="1">
                <a:latin typeface="Consolas"/>
              </a:rPr>
              <a:t>intent_classifier</a:t>
            </a:r>
            <a:r>
              <a:rPr sz="1150">
                <a:latin typeface="Consolas"/>
              </a:rPr>
              <a:t>,</a:t>
            </a:r>
          </a:p>
          <a:p>
            <a:pPr>
              <a:lnSpc>
                <a:spcPct val="130000"/>
              </a:lnSpc>
            </a:pPr>
            <a:r>
              <a:rPr sz="1150">
                <a:latin typeface="Consolas"/>
              </a:rPr>
              <a:t>       </a:t>
            </a:r>
            <a:r>
              <a:rPr sz="1150" err="1">
                <a:latin typeface="Consolas"/>
              </a:rPr>
              <a:t>kakao_template</a:t>
            </a:r>
            <a:r>
              <a:rPr sz="1150">
                <a:latin typeface="Consolas"/>
              </a:rPr>
              <a:t>, </a:t>
            </a:r>
            <a:br>
              <a:rPr lang="ko-KR" sz="1150">
                <a:latin typeface="Consolas"/>
              </a:rPr>
            </a:br>
            <a:r>
              <a:rPr lang="ko-KR" sz="1150">
                <a:latin typeface="Consolas"/>
                <a:ea typeface="맑은 고딕"/>
              </a:rPr>
              <a:t>       </a:t>
            </a:r>
            <a:r>
              <a:rPr sz="1150">
                <a:latin typeface="Consolas"/>
              </a:rPr>
              <a:t>profanity_filter}</a:t>
            </a:r>
          </a:p>
          <a:p>
            <a:pPr>
              <a:lnSpc>
                <a:spcPct val="130000"/>
              </a:lnSpc>
            </a:pPr>
            <a:r>
              <a:rPr sz="1150">
                <a:latin typeface="Consolas"/>
              </a:rPr>
              <a:t>database/{query, response, </a:t>
            </a:r>
            <a:r>
              <a:rPr lang="ko-KR" sz="1150">
                <a:latin typeface="Consolas"/>
                <a:ea typeface="맑은 고딕"/>
              </a:rPr>
              <a:t>   </a:t>
            </a:r>
            <a:r>
              <a:rPr lang="ko-KR" altLang="en-US" sz="1150">
                <a:latin typeface="Consolas"/>
                <a:ea typeface="맑은 고딕"/>
              </a:rPr>
              <a:t>   </a:t>
            </a:r>
            <a:br>
              <a:rPr lang="ko-KR" altLang="en-US" sz="1150">
                <a:latin typeface="Consolas"/>
                <a:ea typeface="맑은 고딕"/>
              </a:rPr>
            </a:br>
            <a:r>
              <a:rPr lang="ko-KR" sz="1150">
                <a:latin typeface="Consolas"/>
                <a:ea typeface="맑은 고딕"/>
              </a:rPr>
              <a:t>         </a:t>
            </a:r>
            <a:r>
              <a:rPr lang="ko-KR" sz="1150">
                <a:latin typeface="Consolas"/>
              </a:rPr>
              <a:t> </a:t>
            </a:r>
            <a:r>
              <a:rPr sz="1150">
                <a:latin typeface="Consolas"/>
              </a:rPr>
              <a:t>retrieval}_logs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9224" y="2697480"/>
            <a:ext cx="2923032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latin typeface="Aptos SemiBold"/>
              </a:rPr>
              <a:t>crawler/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9224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9224" y="3246120"/>
            <a:ext cx="2977896" cy="182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50">
                <a:latin typeface="Consolas"/>
              </a:rPr>
              <a:t>extractors/{board, static, </a:t>
            </a:r>
            <a:br>
              <a:rPr lang="en-US" altLang="ko-KR" sz="1150">
                <a:latin typeface="Consolas"/>
              </a:rPr>
            </a:br>
            <a:r>
              <a:rPr lang="en-US" sz="1150">
                <a:latin typeface="Consolas"/>
              </a:rPr>
              <a:t>            </a:t>
            </a:r>
            <a:r>
              <a:rPr lang="en-US" sz="1150" err="1">
                <a:latin typeface="Consolas"/>
              </a:rPr>
              <a:t>image_text</a:t>
            </a:r>
            <a:r>
              <a:rPr sz="1150">
                <a:latin typeface="Consolas"/>
              </a:rPr>
              <a:t>}</a:t>
            </a:r>
            <a:endParaRPr lang="ko-KR" altLang="en-US" sz="1150"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150">
                <a:latin typeface="Consolas"/>
              </a:rPr>
              <a:t>parsers/{pdf, </a:t>
            </a:r>
            <a:r>
              <a:rPr sz="1150" err="1">
                <a:latin typeface="Consolas"/>
              </a:rPr>
              <a:t>hwp</a:t>
            </a:r>
            <a:r>
              <a:rPr sz="1150">
                <a:latin typeface="Consolas"/>
              </a:rPr>
              <a:t>, </a:t>
            </a:r>
            <a:r>
              <a:rPr sz="1150" err="1">
                <a:latin typeface="Consolas"/>
              </a:rPr>
              <a:t>hwpx</a:t>
            </a:r>
            <a:r>
              <a:rPr sz="1150">
                <a:latin typeface="Consolas"/>
              </a:rPr>
              <a:t>, </a:t>
            </a:r>
            <a:r>
              <a:rPr sz="1150" err="1">
                <a:latin typeface="Consolas"/>
              </a:rPr>
              <a:t>ooxml</a:t>
            </a:r>
            <a:r>
              <a:rPr sz="1150">
                <a:latin typeface="Consolas"/>
              </a:rPr>
              <a:t>, </a:t>
            </a:r>
            <a:br>
              <a:rPr lang="ko-KR" sz="1150">
                <a:latin typeface="Consolas"/>
              </a:rPr>
            </a:br>
            <a:r>
              <a:rPr lang="ko-KR" sz="1150">
                <a:latin typeface="Consolas"/>
                <a:ea typeface="맑은 고딕"/>
              </a:rPr>
              <a:t>         </a:t>
            </a:r>
            <a:r>
              <a:rPr sz="1150">
                <a:latin typeface="Consolas"/>
              </a:rPr>
              <a:t>image}</a:t>
            </a:r>
            <a:endParaRPr lang="ko-KR" altLang="en-US" sz="115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>
                <a:latin typeface="Consolas"/>
              </a:rPr>
              <a:t>ingestion/{</a:t>
            </a:r>
            <a:r>
              <a:rPr sz="1150" err="1">
                <a:latin typeface="Consolas"/>
              </a:rPr>
              <a:t>chunker</a:t>
            </a:r>
            <a:r>
              <a:rPr sz="1150">
                <a:latin typeface="Consolas"/>
              </a:rPr>
              <a:t>, </a:t>
            </a:r>
            <a:r>
              <a:rPr sz="1150" err="1">
                <a:latin typeface="Consolas"/>
              </a:rPr>
              <a:t>pgvector_loader</a:t>
            </a:r>
            <a:r>
              <a:rPr sz="1150">
                <a:latin typeface="Consolas"/>
              </a:rPr>
              <a:t>,</a:t>
            </a:r>
          </a:p>
          <a:p>
            <a:pPr>
              <a:lnSpc>
                <a:spcPct val="130000"/>
              </a:lnSpc>
            </a:pPr>
            <a:r>
              <a:rPr sz="1150">
                <a:latin typeface="Consolas"/>
              </a:rPr>
              <a:t>          </a:t>
            </a:r>
            <a:r>
              <a:rPr lang="en-US" altLang="ko-KR" sz="1150">
                <a:latin typeface="Consolas"/>
                <a:ea typeface="맑은 고딕"/>
              </a:rPr>
              <a:t> </a:t>
            </a:r>
            <a:r>
              <a:rPr lang="en-US" sz="1150" err="1">
                <a:latin typeface="Consolas"/>
              </a:rPr>
              <a:t>embed_worker</a:t>
            </a:r>
            <a:r>
              <a:rPr sz="1150">
                <a:latin typeface="Consolas"/>
              </a:rPr>
              <a:t>}</a:t>
            </a:r>
            <a:endParaRPr lang="ko-KR" altLang="en-US" sz="115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 err="1">
                <a:latin typeface="Consolas"/>
              </a:rPr>
              <a:t>ocr</a:t>
            </a:r>
            <a:r>
              <a:rPr sz="1150">
                <a:latin typeface="Consolas"/>
              </a:rPr>
              <a:t>/</a:t>
            </a:r>
            <a:r>
              <a:rPr sz="1150" err="1">
                <a:latin typeface="Consolas"/>
              </a:rPr>
              <a:t>korean_ocr</a:t>
            </a:r>
            <a:r>
              <a:rPr sz="1150">
                <a:latin typeface="Consolas"/>
              </a:rPr>
              <a:t> · run/</a:t>
            </a:r>
            <a:r>
              <a:rPr sz="1150" err="1">
                <a:latin typeface="Consolas"/>
              </a:rPr>
              <a:t>run_crawl_to_rag</a:t>
            </a:r>
            <a:endParaRPr sz="1150"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" y="3246120"/>
            <a:ext cx="2977896" cy="205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dirty="0">
                <a:latin typeface="Consolas"/>
              </a:rPr>
              <a:t>pipeline/chat_pipeline.py</a:t>
            </a:r>
            <a:endParaRPr lang="ko-KR" altLang="en-US" sz="1150" dirty="0"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150" dirty="0">
                <a:latin typeface="Consolas"/>
              </a:rPr>
              <a:t>retrieval/{retriever, </a:t>
            </a:r>
            <a:br>
              <a:rPr lang="ko-KR" altLang="en-US" sz="1150" dirty="0">
                <a:latin typeface="Consolas"/>
              </a:rPr>
            </a:br>
            <a:r>
              <a:rPr lang="ko-KR" altLang="en-US" sz="1150" dirty="0">
                <a:latin typeface="Consolas"/>
                <a:ea typeface="맑은 고딕"/>
              </a:rPr>
              <a:t>        </a:t>
            </a:r>
            <a:r>
              <a:rPr lang="en-US" sz="1150" dirty="0">
                <a:latin typeface="Consolas"/>
              </a:rPr>
              <a:t>   </a:t>
            </a:r>
            <a:r>
              <a:rPr lang="en-US" sz="1150" dirty="0" err="1">
                <a:latin typeface="Consolas"/>
              </a:rPr>
              <a:t>search_strategy</a:t>
            </a:r>
            <a:r>
              <a:rPr sz="1150" dirty="0">
                <a:latin typeface="Consolas"/>
              </a:rPr>
              <a:t>, quality}</a:t>
            </a:r>
            <a:endParaRPr lang="ko-KR" altLang="en-US" sz="1150" dirty="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 dirty="0">
                <a:latin typeface="Consolas"/>
              </a:rPr>
              <a:t>selection/{</a:t>
            </a:r>
            <a:r>
              <a:rPr sz="1150" dirty="0" err="1">
                <a:latin typeface="Consolas"/>
              </a:rPr>
              <a:t>reranker</a:t>
            </a:r>
            <a:r>
              <a:rPr sz="1150" dirty="0">
                <a:latin typeface="Consolas"/>
              </a:rPr>
              <a:t>, </a:t>
            </a:r>
            <a:r>
              <a:rPr sz="1150" dirty="0" err="1">
                <a:latin typeface="Consolas"/>
              </a:rPr>
              <a:t>topk_selector</a:t>
            </a:r>
            <a:r>
              <a:rPr sz="1150" dirty="0">
                <a:latin typeface="Consolas"/>
              </a:rPr>
              <a:t>}</a:t>
            </a:r>
          </a:p>
          <a:p>
            <a:pPr algn="l">
              <a:lnSpc>
                <a:spcPct val="130000"/>
              </a:lnSpc>
            </a:pPr>
            <a:r>
              <a:rPr sz="1150" dirty="0">
                <a:latin typeface="Consolas"/>
              </a:rPr>
              <a:t>preprocess/* · generation/</a:t>
            </a:r>
            <a:r>
              <a:rPr sz="1150" dirty="0" err="1">
                <a:latin typeface="Consolas"/>
              </a:rPr>
              <a:t>answer_postprocessor</a:t>
            </a:r>
            <a:endParaRPr sz="1150" dirty="0"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150" dirty="0">
                <a:latin typeface="Consolas"/>
              </a:rPr>
              <a:t>prompt/</a:t>
            </a:r>
            <a:r>
              <a:rPr sz="1150" dirty="0" err="1">
                <a:latin typeface="Consolas"/>
              </a:rPr>
              <a:t>prompt_builder</a:t>
            </a:r>
            <a:r>
              <a:rPr sz="1150" dirty="0">
                <a:latin typeface="Consolas"/>
              </a:rPr>
              <a:t> · embedding/koe5_embedder</a:t>
            </a:r>
          </a:p>
          <a:p>
            <a:pPr algn="l">
              <a:lnSpc>
                <a:spcPct val="130000"/>
              </a:lnSpc>
            </a:pPr>
            <a:r>
              <a:rPr sz="1150" dirty="0">
                <a:latin typeface="Consolas"/>
              </a:rPr>
              <a:t>evaluation/</a:t>
            </a:r>
            <a:r>
              <a:rPr sz="1150" dirty="0" err="1">
                <a:latin typeface="Consolas"/>
              </a:rPr>
              <a:t>goldset</a:t>
            </a:r>
            <a:endParaRPr sz="1150" dirty="0">
              <a:latin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53769F2-1C57-EAEE-364C-4675C86C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343658"/>
            <a:ext cx="5697900" cy="3616868"/>
          </a:xfrm>
          <a:prstGeom prst="rect">
            <a:avLst/>
          </a:prstGeom>
        </p:spPr>
      </p:pic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397D9FFC-070D-281E-DFEC-E8623EFEC915}"/>
              </a:ext>
            </a:extLst>
          </p:cNvPr>
          <p:cNvSpPr/>
          <p:nvPr/>
        </p:nvSpPr>
        <p:spPr>
          <a:xfrm>
            <a:off x="777240" y="2415340"/>
            <a:ext cx="3725542" cy="3545185"/>
          </a:xfrm>
          <a:prstGeom prst="roundRect">
            <a:avLst>
              <a:gd name="adj" fmla="val 4071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시나리오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1 —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학사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일정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“1학기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중간고사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기간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알려줘”를</a:t>
            </a:r>
            <a:r>
              <a:rPr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실제 입력 결과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822" y="2522819"/>
            <a:ext cx="1411778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전처리 →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222" y="2788920"/>
            <a:ext cx="3591560" cy="25681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INFO로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분류되어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검색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단계로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진입</a:t>
            </a: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키워드</a:t>
            </a:r>
            <a:r>
              <a:rPr sz="1400" dirty="0">
                <a:solidFill>
                  <a:srgbClr val="333333"/>
                </a:solidFill>
                <a:latin typeface="Aptos"/>
              </a:rPr>
              <a:t> 10개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추출</a:t>
            </a:r>
            <a:r>
              <a:rPr sz="1400" dirty="0">
                <a:solidFill>
                  <a:srgbClr val="333333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시간신호</a:t>
            </a:r>
            <a:r>
              <a:rPr sz="1400" dirty="0">
                <a:solidFill>
                  <a:srgbClr val="333333"/>
                </a:solidFill>
                <a:latin typeface="Aptos"/>
              </a:rPr>
              <a:t> ‘1학기’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인식</a:t>
            </a: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학사일정</a:t>
            </a:r>
            <a:r>
              <a:rPr sz="1400" dirty="0">
                <a:solidFill>
                  <a:srgbClr val="333333"/>
                </a:solidFill>
                <a:latin typeface="Aptos"/>
              </a:rPr>
              <a:t>(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academic_schedule</a:t>
            </a:r>
            <a:r>
              <a:rPr sz="1400" dirty="0">
                <a:solidFill>
                  <a:srgbClr val="333333"/>
                </a:solidFill>
                <a:latin typeface="Aptos"/>
              </a:rPr>
              <a:t>)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패밀리로</a:t>
            </a: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 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벡터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검색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강제</a:t>
            </a: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canonical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필터로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후보</a:t>
            </a:r>
            <a:r>
              <a:rPr sz="1400" dirty="0">
                <a:solidFill>
                  <a:srgbClr val="333333"/>
                </a:solidFill>
                <a:latin typeface="Aptos"/>
              </a:rPr>
              <a:t> 10→4건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축소</a:t>
            </a: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 dirty="0">
                <a:solidFill>
                  <a:srgbClr val="333333"/>
                </a:solidFill>
                <a:latin typeface="Aptos"/>
              </a:rPr>
              <a:t>•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품질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게이트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통과</a:t>
            </a:r>
            <a:r>
              <a:rPr sz="1400" dirty="0">
                <a:solidFill>
                  <a:srgbClr val="333333"/>
                </a:solidFill>
                <a:latin typeface="Aptos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폴백</a:t>
            </a:r>
            <a:r>
              <a:rPr sz="1400" dirty="0">
                <a:solidFill>
                  <a:srgbClr val="333333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ptos"/>
              </a:rPr>
              <a:t>미발동</a:t>
            </a:r>
            <a:endParaRPr sz="1400" dirty="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190488"/>
            <a:ext cx="10634472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err="1">
                <a:solidFill>
                  <a:srgbClr val="7A7A7A"/>
                </a:solidFill>
                <a:latin typeface="Aptos"/>
              </a:rPr>
              <a:t>모든</a:t>
            </a:r>
            <a:r>
              <a:rPr sz="1100">
                <a:solidFill>
                  <a:srgbClr val="7A7A7A"/>
                </a:solidFill>
                <a:latin typeface="Aptos"/>
              </a:rPr>
              <a:t> </a:t>
            </a:r>
            <a:r>
              <a:rPr sz="1100" err="1">
                <a:solidFill>
                  <a:srgbClr val="7A7A7A"/>
                </a:solidFill>
                <a:latin typeface="Aptos"/>
              </a:rPr>
              <a:t>수치는</a:t>
            </a:r>
            <a:r>
              <a:rPr sz="1100">
                <a:solidFill>
                  <a:srgbClr val="7A7A7A"/>
                </a:solidFill>
                <a:latin typeface="Aptos"/>
              </a:rPr>
              <a:t> </a:t>
            </a:r>
            <a:r>
              <a:rPr sz="1100" err="1">
                <a:solidFill>
                  <a:srgbClr val="7A7A7A"/>
                </a:solidFill>
                <a:latin typeface="Aptos"/>
              </a:rPr>
              <a:t>state.to_log_dict</a:t>
            </a:r>
            <a:r>
              <a:rPr sz="1100">
                <a:solidFill>
                  <a:srgbClr val="7A7A7A"/>
                </a:solidFill>
                <a:latin typeface="Aptos"/>
              </a:rPr>
              <a:t>() </a:t>
            </a:r>
            <a:r>
              <a:rPr sz="1100" err="1">
                <a:solidFill>
                  <a:srgbClr val="7A7A7A"/>
                </a:solidFill>
                <a:latin typeface="Aptos"/>
              </a:rPr>
              <a:t>실제</a:t>
            </a:r>
            <a:r>
              <a:rPr sz="1100">
                <a:solidFill>
                  <a:srgbClr val="7A7A7A"/>
                </a:solidFill>
                <a:latin typeface="Aptos"/>
              </a:rPr>
              <a:t> </a:t>
            </a:r>
            <a:r>
              <a:rPr sz="1100" err="1">
                <a:solidFill>
                  <a:srgbClr val="7A7A7A"/>
                </a:solidFill>
                <a:latin typeface="Aptos"/>
              </a:rPr>
              <a:t>출력</a:t>
            </a:r>
            <a:r>
              <a:rPr sz="1100">
                <a:solidFill>
                  <a:srgbClr val="7A7A7A"/>
                </a:solidFill>
                <a:latin typeface="Aptos"/>
              </a:rPr>
              <a:t> (2026-06-02)</a:t>
            </a:r>
            <a:r>
              <a:rPr lang="en-US" sz="1100">
                <a:solidFill>
                  <a:srgbClr val="7A7A7A"/>
                </a:solidFill>
                <a:latin typeface="Aptos"/>
              </a:rPr>
              <a:t> </a:t>
            </a:r>
            <a:r>
              <a:rPr lang="ko-KR" altLang="en-US" sz="1100">
                <a:solidFill>
                  <a:srgbClr val="7A7A7A"/>
                </a:solidFill>
                <a:latin typeface="Aptos"/>
              </a:rPr>
              <a:t>입니다</a:t>
            </a:r>
            <a:r>
              <a:rPr sz="1100">
                <a:solidFill>
                  <a:srgbClr val="7A7A7A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시나리오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1 —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학사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일정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다신호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리랭킹이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공식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페이지를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1등으로,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LLM이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근거로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답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변</a:t>
            </a:r>
            <a:endParaRPr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2670048"/>
            <a:ext cx="3593592" cy="3267364"/>
          </a:xfrm>
          <a:prstGeom prst="roundRect">
            <a:avLst>
              <a:gd name="adj" fmla="val 4071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37575" y="2827065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최종 답변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5" y="3330170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spc="-20" dirty="0">
                <a:solidFill>
                  <a:srgbClr val="1D1D1F"/>
                </a:solidFill>
                <a:latin typeface="Aptos SemiBold"/>
              </a:rPr>
              <a:t>“1학기 </a:t>
            </a:r>
            <a:r>
              <a:rPr sz="1800" spc="-20" dirty="0" err="1">
                <a:solidFill>
                  <a:srgbClr val="1D1D1F"/>
                </a:solidFill>
                <a:latin typeface="Aptos SemiBold"/>
              </a:rPr>
              <a:t>중간고사</a:t>
            </a:r>
            <a:r>
              <a:rPr sz="1800" spc="-20" dirty="0">
                <a:solidFill>
                  <a:srgbClr val="1D1D1F"/>
                </a:solidFill>
                <a:latin typeface="Aptos SemiBold"/>
              </a:rPr>
              <a:t> </a:t>
            </a:r>
            <a:r>
              <a:rPr sz="1800" spc="-20" dirty="0" err="1">
                <a:solidFill>
                  <a:srgbClr val="1D1D1F"/>
                </a:solidFill>
                <a:latin typeface="Aptos SemiBold"/>
              </a:rPr>
              <a:t>기간은</a:t>
            </a:r>
            <a:r>
              <a:rPr sz="1800" spc="-20" dirty="0">
                <a:solidFill>
                  <a:srgbClr val="1D1D1F"/>
                </a:solidFill>
                <a:latin typeface="Aptos SemiBold"/>
              </a:rPr>
              <a:t> 4월 21일부터 27일까지입니다.”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5" y="4722093"/>
            <a:ext cx="3154680" cy="127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5" y="5044164"/>
            <a:ext cx="3154680" cy="428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err="1">
                <a:solidFill>
                  <a:srgbClr val="333333"/>
                </a:solidFill>
                <a:latin typeface="Aptos"/>
              </a:rPr>
              <a:t>학교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sz="1200" err="1">
                <a:solidFill>
                  <a:srgbClr val="333333"/>
                </a:solidFill>
                <a:latin typeface="Aptos"/>
              </a:rPr>
              <a:t>공식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sz="1200" err="1">
                <a:solidFill>
                  <a:srgbClr val="333333"/>
                </a:solidFill>
                <a:latin typeface="Aptos"/>
              </a:rPr>
              <a:t>학사일정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sz="1200" err="1">
                <a:solidFill>
                  <a:srgbClr val="333333"/>
                </a:solidFill>
                <a:latin typeface="Aptos"/>
              </a:rPr>
              <a:t>페이지에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sz="1200" err="1">
                <a:solidFill>
                  <a:srgbClr val="333333"/>
                </a:solidFill>
                <a:latin typeface="Aptos"/>
              </a:rPr>
              <a:t>근거한</a:t>
            </a:r>
            <a:r>
              <a:rPr sz="1200">
                <a:solidFill>
                  <a:srgbClr val="333333"/>
                </a:solidFill>
                <a:latin typeface="Aptos"/>
              </a:rPr>
              <a:t>, </a:t>
            </a:r>
            <a:r>
              <a:rPr sz="1200" err="1">
                <a:solidFill>
                  <a:srgbClr val="333333"/>
                </a:solidFill>
                <a:latin typeface="Aptos"/>
              </a:rPr>
              <a:t>군더더기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sz="1200" err="1">
                <a:solidFill>
                  <a:srgbClr val="333333"/>
                </a:solidFill>
                <a:latin typeface="Aptos"/>
              </a:rPr>
              <a:t>없는</a:t>
            </a:r>
            <a:r>
              <a:rPr sz="1200">
                <a:solidFill>
                  <a:srgbClr val="333333"/>
                </a:solidFill>
                <a:latin typeface="Aptos"/>
              </a:rPr>
              <a:t> 답</a:t>
            </a:r>
            <a:r>
              <a:rPr lang="ko-KR" altLang="en-US" sz="1200">
                <a:solidFill>
                  <a:srgbClr val="333333"/>
                </a:solidFill>
                <a:latin typeface="Aptos"/>
              </a:rPr>
              <a:t>변</a:t>
            </a:r>
            <a:r>
              <a:rPr sz="120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3D3563-2899-59A4-C811-F458CC8D55E2}"/>
              </a:ext>
            </a:extLst>
          </p:cNvPr>
          <p:cNvSpPr/>
          <p:nvPr/>
        </p:nvSpPr>
        <p:spPr>
          <a:xfrm>
            <a:off x="777240" y="2450592"/>
            <a:ext cx="6766560" cy="2697480"/>
          </a:xfrm>
          <a:prstGeom prst="roundRect">
            <a:avLst>
              <a:gd name="adj" fmla="val 4067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7A1AA-ED8C-6BF1-A485-3E8B845ABD52}"/>
              </a:ext>
            </a:extLst>
          </p:cNvPr>
          <p:cNvSpPr txBox="1"/>
          <p:nvPr/>
        </p:nvSpPr>
        <p:spPr>
          <a:xfrm>
            <a:off x="1033271" y="2651760"/>
            <a:ext cx="6254496" cy="2295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150" dirty="0">
                <a:solidFill>
                  <a:srgbClr val="FFFFFF"/>
                </a:solidFill>
                <a:latin typeface="Consolas"/>
              </a:rPr>
              <a:t>reranked → selected : 20 → 3</a:t>
            </a:r>
          </a:p>
          <a:p>
            <a:pPr>
              <a:lnSpc>
                <a:spcPct val="132000"/>
              </a:lnSpc>
            </a:pPr>
            <a:r>
              <a:rPr sz="1150" dirty="0">
                <a:solidFill>
                  <a:srgbClr val="CCCCCC"/>
                </a:solidFill>
                <a:latin typeface="Consolas"/>
              </a:rPr>
              <a:t>[1] </a:t>
            </a:r>
            <a:r>
              <a:rPr sz="1150" dirty="0" err="1">
                <a:solidFill>
                  <a:srgbClr val="CCCCCC"/>
                </a:solidFill>
                <a:latin typeface="Consolas"/>
              </a:rPr>
              <a:t>학사일정</a:t>
            </a:r>
            <a:r>
              <a:rPr sz="1150" dirty="0">
                <a:solidFill>
                  <a:srgbClr val="CCCCCC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CCCCCC"/>
                </a:solidFill>
                <a:latin typeface="Consolas"/>
              </a:rPr>
              <a:t>페이지</a:t>
            </a:r>
            <a:r>
              <a:rPr sz="1150" dirty="0">
                <a:solidFill>
                  <a:srgbClr val="CCCCCC"/>
                </a:solidFill>
                <a:latin typeface="Consolas"/>
              </a:rPr>
              <a:t>   </a:t>
            </a:r>
            <a:r>
              <a:rPr sz="1150" dirty="0" err="1">
                <a:solidFill>
                  <a:srgbClr val="CCCCCC"/>
                </a:solidFill>
                <a:latin typeface="Consolas"/>
              </a:rPr>
              <a:t>rerank_score</a:t>
            </a:r>
            <a:r>
              <a:rPr sz="1150" dirty="0">
                <a:solidFill>
                  <a:srgbClr val="CCCCCC"/>
                </a:solidFill>
                <a:latin typeface="Consolas"/>
              </a:rPr>
              <a:t>: </a:t>
            </a:r>
            <a:r>
              <a:rPr sz="1150" dirty="0">
                <a:solidFill>
                  <a:srgbClr val="2997FF"/>
                </a:solidFill>
                <a:latin typeface="Consolas"/>
              </a:rPr>
              <a:t>8.99</a:t>
            </a:r>
          </a:p>
          <a:p>
            <a:pPr>
              <a:lnSpc>
                <a:spcPct val="132000"/>
              </a:lnSpc>
            </a:pPr>
            <a:r>
              <a:rPr sz="1150" dirty="0">
                <a:solidFill>
                  <a:srgbClr val="FFFFFF"/>
                </a:solidFill>
                <a:latin typeface="Consolas"/>
              </a:rPr>
              <a:t>    signals: canonical 3.0 + </a:t>
            </a:r>
            <a:r>
              <a:rPr sz="1150" dirty="0" err="1">
                <a:solidFill>
                  <a:srgbClr val="FFFFFF"/>
                </a:solidFill>
                <a:latin typeface="Consolas"/>
              </a:rPr>
              <a:t>family_boost</a:t>
            </a:r>
            <a:r>
              <a:rPr sz="1150" dirty="0">
                <a:solidFill>
                  <a:srgbClr val="FFFFFF"/>
                </a:solidFill>
                <a:latin typeface="Consolas"/>
              </a:rPr>
              <a:t> 2.48</a:t>
            </a:r>
          </a:p>
          <a:p>
            <a:pPr>
              <a:lnSpc>
                <a:spcPct val="132000"/>
              </a:lnSpc>
            </a:pPr>
            <a:r>
              <a:rPr sz="1150" dirty="0">
                <a:solidFill>
                  <a:srgbClr val="FFFFFF"/>
                </a:solidFill>
                <a:latin typeface="Consolas"/>
              </a:rPr>
              <a:t>             + </a:t>
            </a:r>
            <a:r>
              <a:rPr sz="1150" dirty="0" err="1">
                <a:solidFill>
                  <a:srgbClr val="FFFFFF"/>
                </a:solidFill>
                <a:latin typeface="Consolas"/>
              </a:rPr>
              <a:t>verified_title</a:t>
            </a:r>
            <a:r>
              <a:rPr sz="1150" dirty="0">
                <a:solidFill>
                  <a:srgbClr val="FFFFFF"/>
                </a:solidFill>
                <a:latin typeface="Consolas"/>
              </a:rPr>
              <a:t> 1.5 + heading 0.8</a:t>
            </a:r>
          </a:p>
          <a:p>
            <a:pPr>
              <a:lnSpc>
                <a:spcPct val="132000"/>
              </a:lnSpc>
            </a:pPr>
            <a:r>
              <a:rPr sz="1150" dirty="0">
                <a:solidFill>
                  <a:srgbClr val="CCCCCC"/>
                </a:solidFill>
                <a:latin typeface="Consolas"/>
              </a:rPr>
              <a:t>    (attachment chunk: </a:t>
            </a:r>
            <a:r>
              <a:rPr sz="1150" dirty="0" err="1">
                <a:solidFill>
                  <a:srgbClr val="CCCCCC"/>
                </a:solidFill>
                <a:latin typeface="Consolas"/>
              </a:rPr>
              <a:t>family_penalty</a:t>
            </a:r>
            <a:r>
              <a:rPr sz="1150" dirty="0">
                <a:solidFill>
                  <a:srgbClr val="CCCCCC"/>
                </a:solidFill>
                <a:latin typeface="Consolas"/>
              </a:rPr>
              <a:t> -2.8)</a:t>
            </a:r>
          </a:p>
          <a:p>
            <a:pPr>
              <a:lnSpc>
                <a:spcPct val="132000"/>
              </a:lnSpc>
            </a:pPr>
            <a:r>
              <a:rPr sz="1150" dirty="0" err="1">
                <a:solidFill>
                  <a:srgbClr val="FFFFFF"/>
                </a:solidFill>
                <a:latin typeface="Consolas"/>
              </a:rPr>
              <a:t>answer_input</a:t>
            </a:r>
            <a:r>
              <a:rPr sz="1150" dirty="0">
                <a:solidFill>
                  <a:srgbClr val="FFFFFF"/>
                </a:solidFill>
                <a:latin typeface="Consolas"/>
              </a:rPr>
              <a:t> : context 3,989 · prompt 4,551</a:t>
            </a:r>
          </a:p>
          <a:p>
            <a:pPr>
              <a:lnSpc>
                <a:spcPct val="132000"/>
              </a:lnSpc>
            </a:pPr>
            <a:r>
              <a:rPr sz="1150" dirty="0" err="1">
                <a:solidFill>
                  <a:srgbClr val="FFFFFF"/>
                </a:solidFill>
                <a:latin typeface="Consolas"/>
              </a:rPr>
              <a:t>negative_repair</a:t>
            </a:r>
            <a:r>
              <a:rPr sz="1150" dirty="0">
                <a:solidFill>
                  <a:srgbClr val="FFFFFF"/>
                </a:solidFill>
                <a:latin typeface="Consolas"/>
              </a:rPr>
              <a:t> : null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EDDD83-3287-061D-B4D6-9E0CB015B0FA}"/>
              </a:ext>
            </a:extLst>
          </p:cNvPr>
          <p:cNvSpPr/>
          <p:nvPr/>
        </p:nvSpPr>
        <p:spPr>
          <a:xfrm>
            <a:off x="777240" y="5285232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C3D64-99CE-F040-CA7A-8F061557E511}"/>
              </a:ext>
            </a:extLst>
          </p:cNvPr>
          <p:cNvSpPr txBox="1"/>
          <p:nvPr/>
        </p:nvSpPr>
        <p:spPr>
          <a:xfrm>
            <a:off x="1033271" y="5486400"/>
            <a:ext cx="625449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150" dirty="0">
                <a:solidFill>
                  <a:srgbClr val="CCCCCC"/>
                </a:solidFill>
                <a:latin typeface="Consolas"/>
              </a:rPr>
              <a:t>timings(</a:t>
            </a:r>
            <a:r>
              <a:rPr sz="1150" dirty="0" err="1">
                <a:solidFill>
                  <a:srgbClr val="CCCCCC"/>
                </a:solidFill>
                <a:latin typeface="Consolas"/>
              </a:rPr>
              <a:t>ms</a:t>
            </a:r>
            <a:r>
              <a:rPr sz="1150" dirty="0">
                <a:solidFill>
                  <a:srgbClr val="CCCCCC"/>
                </a:solidFill>
                <a:latin typeface="Consolas"/>
              </a:rPr>
              <a:t>): classify 0 · preprocess 5569 · embed 458</a:t>
            </a:r>
          </a:p>
          <a:p>
            <a:pPr>
              <a:lnSpc>
                <a:spcPct val="132000"/>
              </a:lnSpc>
            </a:pPr>
            <a:r>
              <a:rPr sz="1150" dirty="0">
                <a:solidFill>
                  <a:srgbClr val="CCCCCC"/>
                </a:solidFill>
                <a:latin typeface="Consolas"/>
              </a:rPr>
              <a:t>   retrieve 13057 · select 11 · generate 2961  (cold start)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0BA9FCB-9DB8-FB70-B02A-4A9A63C7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345"/>
          <a:stretch>
            <a:fillRect/>
          </a:stretch>
        </p:blipFill>
        <p:spPr>
          <a:xfrm>
            <a:off x="7818120" y="90487"/>
            <a:ext cx="3486150" cy="2067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시나리오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2 —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비정보성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질의</a:t>
            </a:r>
            <a:endParaRPr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“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안녕”은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검색을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타지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않고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입구에서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처리</a:t>
            </a:r>
            <a:endParaRPr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입구에서 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206240" cy="2309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GENERAL로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분류</a:t>
            </a: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전처리·임베딩·검색·생성을</a:t>
            </a:r>
            <a:r>
              <a:rPr lang="en-US"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전부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건너뜀</a:t>
            </a: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실행된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단계는</a:t>
            </a:r>
            <a:r>
              <a:rPr sz="1400">
                <a:solidFill>
                  <a:srgbClr val="333333"/>
                </a:solidFill>
                <a:latin typeface="Aptos"/>
              </a:rPr>
              <a:t> classify </a:t>
            </a:r>
            <a:r>
              <a:rPr sz="1400" err="1">
                <a:solidFill>
                  <a:srgbClr val="333333"/>
                </a:solidFill>
                <a:latin typeface="Aptos"/>
              </a:rPr>
              <a:t>하나</a:t>
            </a: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비속어는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PROFANITY로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차단</a:t>
            </a: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endParaRPr sz="140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</a:t>
            </a:r>
            <a:r>
              <a:rPr sz="1400" err="1">
                <a:solidFill>
                  <a:srgbClr val="333333"/>
                </a:solidFill>
                <a:latin typeface="Aptos"/>
              </a:rPr>
              <a:t>불필요한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검색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비용·오답을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원천</a:t>
            </a:r>
            <a:r>
              <a:rPr sz="1400">
                <a:solidFill>
                  <a:srgbClr val="333333"/>
                </a:solidFill>
                <a:latin typeface="Aptos"/>
              </a:rPr>
              <a:t> </a:t>
            </a:r>
            <a:r>
              <a:rPr sz="1400" err="1">
                <a:solidFill>
                  <a:srgbClr val="333333"/>
                </a:solidFill>
                <a:latin typeface="Aptos"/>
              </a:rPr>
              <a:t>차단</a:t>
            </a:r>
            <a:endParaRPr sz="14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11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428A51-839D-F16B-D849-63149BEB3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09" y="2417869"/>
            <a:ext cx="5536646" cy="33445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69BC4F-DF0B-E11E-7AD5-94F0DFCF3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246" y="722627"/>
            <a:ext cx="3448531" cy="11812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마주친 문제 →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데이터가 지저분할수록 RAG는 어렵다 — 발견하고, 고치고, 숫자로 확인했다.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C0392B"/>
                </a:solidFill>
                <a:latin typeface="Aptos SemiBold"/>
              </a:rPr>
              <a:t>발견한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43230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해결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32304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99008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7121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PDF 바이너리·메뉴 노이즈 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7121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source_type 프리필터 + 파서 라우팅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871216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검색 노이즈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5021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HWP·이미지 첨부 본문 누락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38328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HWP/HWPX 파서 + 한국어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8328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첨부 표·텍스트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49624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14215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9534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중복 청크가 컨텍스트 점유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95344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dedup·다양성 기반 top-k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95344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근거 다양성 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61688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526280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4074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타 학과명 혼입(substring 오매칭)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40740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학과 경계 매칭(_dept_token_in_text)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407408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학과 Context 67→83%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873752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5038344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91947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게시판 복제 공지가 정답 밀어냄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919472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board-noise 페널티 + 규칙 게이트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919472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공식 페이지 우선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85816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555040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43153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1D1D1F"/>
                </a:solidFill>
                <a:latin typeface="Aptos"/>
              </a:rPr>
              <a:t>근거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있어도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답변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거절</a:t>
            </a:r>
            <a:endParaRPr sz="1200" dirty="0">
              <a:solidFill>
                <a:srgbClr val="1D1D1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60520" y="543153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거절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프롬프트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재설계</a:t>
            </a:r>
            <a:r>
              <a:rPr sz="1200" dirty="0">
                <a:solidFill>
                  <a:srgbClr val="333333"/>
                </a:solidFill>
                <a:latin typeface="Aptos"/>
              </a:rPr>
              <a:t> + repair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강화</a:t>
            </a:r>
            <a:endParaRPr sz="1200" dirty="0">
              <a:solidFill>
                <a:srgbClr val="333333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5431536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거절 12.1→3.0%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89788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“잘 만든 것”이 아니라 “무슨 문제를 풀었는가” — 데이터 품질이 RAG 품질의 8할.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문제 → 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dirty="0">
                <a:solidFill>
                  <a:srgbClr val="7A7A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56CC-C946-FAF1-7D6D-7D126548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C815F-D0B7-1C47-6342-E06D5BEC4C74}"/>
              </a:ext>
            </a:extLst>
          </p:cNvPr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7C696-D192-D47C-941F-E6C085F1B499}"/>
              </a:ext>
            </a:extLst>
          </p:cNvPr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마주친 문제 →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EAE30-FF07-3E21-6F71-4425632E73F0}"/>
              </a:ext>
            </a:extLst>
          </p:cNvPr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데이터가 지저분할수록 RAG는 어렵다 — 발견하고, 고치고, 숫자로 확인했다.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A1932-51A4-5E66-9599-8B4E33752F11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73EC1-D474-1A4E-FED5-7E6CF5878F67}"/>
              </a:ext>
            </a:extLst>
          </p:cNvPr>
          <p:cNvSpPr txBox="1"/>
          <p:nvPr/>
        </p:nvSpPr>
        <p:spPr>
          <a:xfrm>
            <a:off x="777240" y="24323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C0392B"/>
                </a:solidFill>
                <a:latin typeface="Aptos SemiBold"/>
              </a:rPr>
              <a:t>발견한 문제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D894A-2BC8-2F41-AB14-C0F03C9D35ED}"/>
              </a:ext>
            </a:extLst>
          </p:cNvPr>
          <p:cNvSpPr txBox="1"/>
          <p:nvPr/>
        </p:nvSpPr>
        <p:spPr>
          <a:xfrm>
            <a:off x="4160520" y="243230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해결 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115EB-65C2-0FF6-FEA6-1E5B28FB297E}"/>
              </a:ext>
            </a:extLst>
          </p:cNvPr>
          <p:cNvSpPr txBox="1"/>
          <p:nvPr/>
        </p:nvSpPr>
        <p:spPr>
          <a:xfrm>
            <a:off x="8549640" y="2432304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효과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CC8187-63B1-0275-383A-881293C8C8DD}"/>
              </a:ext>
            </a:extLst>
          </p:cNvPr>
          <p:cNvSpPr/>
          <p:nvPr/>
        </p:nvSpPr>
        <p:spPr>
          <a:xfrm>
            <a:off x="777240" y="27432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E8748-4F45-9792-B0A6-F0F55B6E4D5B}"/>
              </a:ext>
            </a:extLst>
          </p:cNvPr>
          <p:cNvSpPr/>
          <p:nvPr/>
        </p:nvSpPr>
        <p:spPr>
          <a:xfrm>
            <a:off x="777240" y="299008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A0F38-83D7-09FA-74ED-1B0B95B2C186}"/>
              </a:ext>
            </a:extLst>
          </p:cNvPr>
          <p:cNvSpPr txBox="1"/>
          <p:nvPr/>
        </p:nvSpPr>
        <p:spPr>
          <a:xfrm>
            <a:off x="960120" y="287121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PDF 바이너리·메뉴 노이즈 유입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BD403-1087-14B1-4181-0FD5335EFADA}"/>
              </a:ext>
            </a:extLst>
          </p:cNvPr>
          <p:cNvSpPr txBox="1"/>
          <p:nvPr/>
        </p:nvSpPr>
        <p:spPr>
          <a:xfrm>
            <a:off x="4160520" y="287121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source_type 프리필터 + 파서 라우팅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8637F-3FC0-4655-B064-21A888E5A293}"/>
              </a:ext>
            </a:extLst>
          </p:cNvPr>
          <p:cNvSpPr txBox="1"/>
          <p:nvPr/>
        </p:nvSpPr>
        <p:spPr>
          <a:xfrm>
            <a:off x="8549640" y="2871216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검색 노이즈 제거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099B1-FF40-7395-296D-25F82A18FCA6}"/>
              </a:ext>
            </a:extLst>
          </p:cNvPr>
          <p:cNvSpPr/>
          <p:nvPr/>
        </p:nvSpPr>
        <p:spPr>
          <a:xfrm>
            <a:off x="777240" y="333756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E80CE6-3118-AF38-D083-5A265FE6EEA8}"/>
              </a:ext>
            </a:extLst>
          </p:cNvPr>
          <p:cNvSpPr/>
          <p:nvPr/>
        </p:nvSpPr>
        <p:spPr>
          <a:xfrm>
            <a:off x="777240" y="35021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FCAF1A-2EE0-1030-F741-0E305AE7CAE5}"/>
              </a:ext>
            </a:extLst>
          </p:cNvPr>
          <p:cNvSpPr txBox="1"/>
          <p:nvPr/>
        </p:nvSpPr>
        <p:spPr>
          <a:xfrm>
            <a:off x="960120" y="33832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HWP·이미지 첨부 본문 누락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A2D34-4656-30CE-3E99-E2984E75F86A}"/>
              </a:ext>
            </a:extLst>
          </p:cNvPr>
          <p:cNvSpPr txBox="1"/>
          <p:nvPr/>
        </p:nvSpPr>
        <p:spPr>
          <a:xfrm>
            <a:off x="4160520" y="338328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HWP/HWPX 파서 + 한국어 OCR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73E5A-8F02-9940-B5C7-C31E405F996D}"/>
              </a:ext>
            </a:extLst>
          </p:cNvPr>
          <p:cNvSpPr txBox="1"/>
          <p:nvPr/>
        </p:nvSpPr>
        <p:spPr>
          <a:xfrm>
            <a:off x="8549640" y="3383280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첨부 표·텍스트 확보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0A03F4-8D78-2248-76A6-E7D4A49AF576}"/>
              </a:ext>
            </a:extLst>
          </p:cNvPr>
          <p:cNvSpPr/>
          <p:nvPr/>
        </p:nvSpPr>
        <p:spPr>
          <a:xfrm>
            <a:off x="777240" y="3849624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2AEB69-F6C2-092D-4BD1-9F636A1991ED}"/>
              </a:ext>
            </a:extLst>
          </p:cNvPr>
          <p:cNvSpPr/>
          <p:nvPr/>
        </p:nvSpPr>
        <p:spPr>
          <a:xfrm>
            <a:off x="777240" y="4014215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CE0023-F30A-F9AD-190D-38C170919972}"/>
              </a:ext>
            </a:extLst>
          </p:cNvPr>
          <p:cNvSpPr/>
          <p:nvPr/>
        </p:nvSpPr>
        <p:spPr>
          <a:xfrm>
            <a:off x="777240" y="4361688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4A6C5F-B7CE-BF50-6B0B-BC4CB88DE1B9}"/>
              </a:ext>
            </a:extLst>
          </p:cNvPr>
          <p:cNvSpPr/>
          <p:nvPr/>
        </p:nvSpPr>
        <p:spPr>
          <a:xfrm>
            <a:off x="777240" y="4526280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4BAC2F-94A1-DF49-9C38-1284CC1B000B}"/>
              </a:ext>
            </a:extLst>
          </p:cNvPr>
          <p:cNvSpPr txBox="1"/>
          <p:nvPr/>
        </p:nvSpPr>
        <p:spPr>
          <a:xfrm>
            <a:off x="960120" y="4490535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1D1D1F"/>
                </a:solidFill>
                <a:latin typeface="Aptos"/>
              </a:rPr>
              <a:t>타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학과명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혼입</a:t>
            </a:r>
            <a:r>
              <a:rPr sz="1200" dirty="0">
                <a:solidFill>
                  <a:srgbClr val="1D1D1F"/>
                </a:solidFill>
                <a:latin typeface="Aptos"/>
              </a:rPr>
              <a:t>(substring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오매칭</a:t>
            </a:r>
            <a:r>
              <a:rPr sz="1200" dirty="0">
                <a:solidFill>
                  <a:srgbClr val="1D1D1F"/>
                </a:solidFill>
                <a:latin typeface="Aptos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7A8E7F-3918-9599-05A8-ABB990BBD891}"/>
              </a:ext>
            </a:extLst>
          </p:cNvPr>
          <p:cNvSpPr txBox="1"/>
          <p:nvPr/>
        </p:nvSpPr>
        <p:spPr>
          <a:xfrm>
            <a:off x="4160520" y="4490535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학과 경계 매칭(_dept_token_in_text)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DD2F01-BC35-D2DB-8DAB-6FF74C661012}"/>
              </a:ext>
            </a:extLst>
          </p:cNvPr>
          <p:cNvSpPr txBox="1"/>
          <p:nvPr/>
        </p:nvSpPr>
        <p:spPr>
          <a:xfrm>
            <a:off x="8549640" y="4490535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학과 Context 67→83%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706D77-D6E0-726C-4763-A8E5CDF88B78}"/>
              </a:ext>
            </a:extLst>
          </p:cNvPr>
          <p:cNvSpPr/>
          <p:nvPr/>
        </p:nvSpPr>
        <p:spPr>
          <a:xfrm>
            <a:off x="777240" y="4873752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2C4DBA-C5DC-4784-C6EB-EE6C00DF90FB}"/>
              </a:ext>
            </a:extLst>
          </p:cNvPr>
          <p:cNvSpPr/>
          <p:nvPr/>
        </p:nvSpPr>
        <p:spPr>
          <a:xfrm>
            <a:off x="777240" y="5038344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14BA1A-B48D-5442-BCC9-D920349BD894}"/>
              </a:ext>
            </a:extLst>
          </p:cNvPr>
          <p:cNvSpPr txBox="1"/>
          <p:nvPr/>
        </p:nvSpPr>
        <p:spPr>
          <a:xfrm>
            <a:off x="960120" y="499225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1D1D1F"/>
                </a:solidFill>
                <a:latin typeface="Aptos"/>
              </a:rPr>
              <a:t>게시판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복제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공지가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정답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밀어냄</a:t>
            </a:r>
            <a:endParaRPr sz="1200" dirty="0">
              <a:solidFill>
                <a:srgbClr val="1D1D1F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AA2A19-48DA-1EFA-59F5-665D3B83C051}"/>
              </a:ext>
            </a:extLst>
          </p:cNvPr>
          <p:cNvSpPr txBox="1"/>
          <p:nvPr/>
        </p:nvSpPr>
        <p:spPr>
          <a:xfrm>
            <a:off x="4160520" y="499225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board-noise 페널티 + 규칙 게이트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6C6B1-28F5-F9EE-1107-C68EB9B6568F}"/>
              </a:ext>
            </a:extLst>
          </p:cNvPr>
          <p:cNvSpPr txBox="1"/>
          <p:nvPr/>
        </p:nvSpPr>
        <p:spPr>
          <a:xfrm>
            <a:off x="8549640" y="4992256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공식 페이지 우선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898DA5-1A1C-086A-8EE3-01877DCBB726}"/>
              </a:ext>
            </a:extLst>
          </p:cNvPr>
          <p:cNvSpPr/>
          <p:nvPr/>
        </p:nvSpPr>
        <p:spPr>
          <a:xfrm>
            <a:off x="777240" y="5385816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DB5161-5204-0B2B-9252-CD4163430920}"/>
              </a:ext>
            </a:extLst>
          </p:cNvPr>
          <p:cNvSpPr/>
          <p:nvPr/>
        </p:nvSpPr>
        <p:spPr>
          <a:xfrm>
            <a:off x="777240" y="555040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B516E0-1B65-7203-8486-5E34BD7DC2FD}"/>
              </a:ext>
            </a:extLst>
          </p:cNvPr>
          <p:cNvSpPr txBox="1"/>
          <p:nvPr/>
        </p:nvSpPr>
        <p:spPr>
          <a:xfrm>
            <a:off x="960120" y="395701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1D1D1F"/>
                </a:solidFill>
                <a:latin typeface="Aptos"/>
              </a:rPr>
              <a:t>근거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있어도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답변</a:t>
            </a:r>
            <a:r>
              <a:rPr sz="1200" dirty="0">
                <a:solidFill>
                  <a:srgbClr val="1D1D1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D1D1F"/>
                </a:solidFill>
                <a:latin typeface="Aptos"/>
              </a:rPr>
              <a:t>거절</a:t>
            </a:r>
            <a:endParaRPr sz="1200" dirty="0">
              <a:solidFill>
                <a:srgbClr val="1D1D1F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4DEF50-1E04-7A80-C531-FC51A5880BF3}"/>
              </a:ext>
            </a:extLst>
          </p:cNvPr>
          <p:cNvSpPr txBox="1"/>
          <p:nvPr/>
        </p:nvSpPr>
        <p:spPr>
          <a:xfrm>
            <a:off x="4160520" y="395701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333333"/>
                </a:solidFill>
                <a:latin typeface="Aptos"/>
              </a:rPr>
              <a:t>거절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프롬프트</a:t>
            </a:r>
            <a:r>
              <a:rPr sz="1200" dirty="0">
                <a:solidFill>
                  <a:srgbClr val="333333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재설계</a:t>
            </a:r>
            <a:r>
              <a:rPr sz="1200" dirty="0">
                <a:solidFill>
                  <a:srgbClr val="333333"/>
                </a:solidFill>
                <a:latin typeface="Aptos"/>
              </a:rPr>
              <a:t> + repair </a:t>
            </a:r>
            <a:r>
              <a:rPr sz="1200" dirty="0" err="1">
                <a:solidFill>
                  <a:srgbClr val="333333"/>
                </a:solidFill>
                <a:latin typeface="Aptos"/>
              </a:rPr>
              <a:t>강화</a:t>
            </a:r>
            <a:endParaRPr sz="1200" dirty="0">
              <a:solidFill>
                <a:srgbClr val="333333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118384-80BF-F081-49DB-8014B8ECF81D}"/>
              </a:ext>
            </a:extLst>
          </p:cNvPr>
          <p:cNvSpPr txBox="1"/>
          <p:nvPr/>
        </p:nvSpPr>
        <p:spPr>
          <a:xfrm>
            <a:off x="8549640" y="3957019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거절 12.1→3.0%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A06450-FF2F-6D6D-F5E1-637F74081C2C}"/>
              </a:ext>
            </a:extLst>
          </p:cNvPr>
          <p:cNvSpPr/>
          <p:nvPr/>
        </p:nvSpPr>
        <p:spPr>
          <a:xfrm>
            <a:off x="777240" y="589788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090096-BC14-AEC5-3DEA-0D162669D64F}"/>
              </a:ext>
            </a:extLst>
          </p:cNvPr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“잘 만든 것”이 아니라 “무슨 문제를 풀었는가” — 데이터 품질이 RAG 품질의 8할.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4E876E-894A-628A-B381-E7EE244120E7}"/>
              </a:ext>
            </a:extLst>
          </p:cNvPr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문제 → 해결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8765DF-644B-A0E7-E704-35221826FC32}"/>
              </a:ext>
            </a:extLst>
          </p:cNvPr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dirty="0">
                <a:solidFill>
                  <a:srgbClr val="7A7A7A"/>
                </a:solidFill>
                <a:latin typeface="Aptos"/>
              </a:rPr>
              <a:t>14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2FAB1E-683E-EC8F-4227-B008FE3EA775}"/>
              </a:ext>
            </a:extLst>
          </p:cNvPr>
          <p:cNvSpPr txBox="1"/>
          <p:nvPr/>
        </p:nvSpPr>
        <p:spPr>
          <a:xfrm>
            <a:off x="960120" y="5521579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중복 청크가 컨텍스트 점유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3FE996-476C-61B1-B9C9-A33AA07DC179}"/>
              </a:ext>
            </a:extLst>
          </p:cNvPr>
          <p:cNvSpPr txBox="1"/>
          <p:nvPr/>
        </p:nvSpPr>
        <p:spPr>
          <a:xfrm>
            <a:off x="4160520" y="552157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dedup·다양성 기반 top-k 선택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22D23F-B721-1D8A-9AE3-8A2AA567DC40}"/>
              </a:ext>
            </a:extLst>
          </p:cNvPr>
          <p:cNvSpPr txBox="1"/>
          <p:nvPr/>
        </p:nvSpPr>
        <p:spPr>
          <a:xfrm>
            <a:off x="8549640" y="5521579"/>
            <a:ext cx="2862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근거 다양성 ↑</a:t>
            </a:r>
          </a:p>
        </p:txBody>
      </p:sp>
    </p:spTree>
    <p:extLst>
      <p:ext uri="{BB962C8B-B14F-4D97-AF65-F5344CB8AC3E}">
        <p14:creationId xmlns:p14="http://schemas.microsoft.com/office/powerpoint/2010/main" val="2954530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독창성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및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차별성</a:t>
            </a:r>
            <a:endParaRPr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숫자로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검증하며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만든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검색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품질</a:t>
            </a:r>
            <a:endParaRPr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734056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392424"/>
            <a:ext cx="20139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SRRF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758184"/>
            <a:ext cx="2013966" cy="44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200" err="1">
                <a:solidFill>
                  <a:srgbClr val="333333"/>
                </a:solidFill>
                <a:latin typeface="Aptos"/>
              </a:rPr>
              <a:t>Softmax-RRF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를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직접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구현하고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운영에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적용</a:t>
            </a:r>
            <a:endParaRPr sz="12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04438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3894" y="2734056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894" y="3392424"/>
            <a:ext cx="201396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500" spc="-30">
                <a:solidFill>
                  <a:srgbClr val="1D1D1F"/>
                </a:solidFill>
                <a:latin typeface="Aptos SemiBold"/>
              </a:rPr>
              <a:t>LLM Multi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894" y="3758184"/>
            <a:ext cx="2013966" cy="44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200">
                <a:solidFill>
                  <a:srgbClr val="333333"/>
                </a:solidFill>
                <a:latin typeface="Aptos"/>
              </a:rPr>
              <a:t>질문 변형 확장 검색으로 정답 문서 탐색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1092" y="2734056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3392424"/>
            <a:ext cx="20139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Fallback + Rerank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701" y="3758184"/>
            <a:ext cx="2174748" cy="213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200">
                <a:solidFill>
                  <a:srgbClr val="333333"/>
                </a:solidFill>
                <a:latin typeface="Aptos"/>
              </a:rPr>
              <a:t>실패</a:t>
            </a:r>
            <a:r>
              <a:rPr sz="1200">
                <a:solidFill>
                  <a:srgbClr val="333333"/>
                </a:solidFill>
                <a:latin typeface="Aptos"/>
              </a:rPr>
              <a:t> 시 </a:t>
            </a:r>
            <a:r>
              <a:rPr lang="ko-KR" altLang="en-US" sz="1200">
                <a:solidFill>
                  <a:srgbClr val="333333"/>
                </a:solidFill>
                <a:latin typeface="Aptos"/>
              </a:rPr>
              <a:t>전략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>
                <a:solidFill>
                  <a:srgbClr val="333333"/>
                </a:solidFill>
                <a:latin typeface="Aptos"/>
              </a:rPr>
              <a:t>전환</a:t>
            </a:r>
            <a:r>
              <a:rPr lang="en-US" altLang="ko-KR" sz="1200">
                <a:solidFill>
                  <a:srgbClr val="333333"/>
                </a:solidFill>
                <a:latin typeface="Aptos"/>
              </a:rPr>
              <a:t>·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다신호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>
                <a:solidFill>
                  <a:srgbClr val="333333"/>
                </a:solidFill>
                <a:latin typeface="Aptos"/>
              </a:rPr>
              <a:t>재정렬</a:t>
            </a:r>
            <a:endParaRPr sz="12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58834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8290" y="2734056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 dirty="0">
                <a:solidFill>
                  <a:srgbClr val="0066CC"/>
                </a:solidFill>
                <a:latin typeface="Aptos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8290" y="3392424"/>
            <a:ext cx="20139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66-Q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758184"/>
            <a:ext cx="2013966" cy="213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정량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평가</a:t>
            </a:r>
            <a:r>
              <a:rPr sz="1200">
                <a:solidFill>
                  <a:srgbClr val="333333"/>
                </a:solidFill>
                <a:latin typeface="Aptos"/>
              </a:rPr>
              <a:t> +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측정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정직화</a:t>
            </a:r>
            <a:r>
              <a:rPr sz="1200">
                <a:solidFill>
                  <a:srgbClr val="333333"/>
                </a:solidFill>
                <a:latin typeface="Aptos"/>
              </a:rPr>
              <a:t> </a:t>
            </a:r>
            <a:r>
              <a:rPr lang="ko-KR" altLang="en-US" sz="1200" err="1">
                <a:solidFill>
                  <a:srgbClr val="333333"/>
                </a:solidFill>
                <a:latin typeface="Aptos"/>
              </a:rPr>
              <a:t>가드</a:t>
            </a:r>
            <a:endParaRPr sz="12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평가 데이터셋 — 66문항 골드셋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감이 아니라 숫자로 — 팀이 직접 만들고 공식 출처로 검증한 정답셋.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질문 카테고리 (22종 → 6묶음)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69748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2432304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어떻게 검증했나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5376672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54496" y="2907792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팀이 실제 학생 질문 유형으로 66문항 직접 작성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정답 근거를 DB document_id로 조회 검증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웹 출처는 공식 URL을 직접 열어 교차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15968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출처 유형 · 난이도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6451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DB 기반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681728"/>
            <a:ext cx="1695796" cy="1828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5316" y="46451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웹페이지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5065776"/>
            <a:ext cx="1318952" cy="18288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8472" y="50292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132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첨부파일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5449824"/>
            <a:ext cx="94210" cy="18288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3730" y="54132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870448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 err="1">
                <a:solidFill>
                  <a:srgbClr val="7A7A7A"/>
                </a:solidFill>
                <a:latin typeface="Aptos"/>
              </a:rPr>
              <a:t>난이도</a:t>
            </a:r>
            <a:r>
              <a:rPr sz="1100" dirty="0">
                <a:solidFill>
                  <a:srgbClr val="7A7A7A"/>
                </a:solidFill>
                <a:latin typeface="Aptos"/>
              </a:rPr>
              <a:t>: easy 24 · medium 28 · hard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평가 데이터셋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분담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내용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및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수행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내용</a:t>
            </a:r>
            <a:endParaRPr lang="ko-KR" altLang="en-US" sz="3200" b="1" spc="-4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713203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153640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18232"/>
            <a:ext cx="1645920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황현우</a:t>
            </a:r>
            <a:endParaRPr sz="1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4640" y="23182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RAG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1376" y="23365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오케스트레이터 · 폴백 · 품질 게이트 · 아키텍처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32055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96647"/>
            <a:ext cx="1645920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이지훈</a:t>
            </a:r>
            <a:endParaRPr sz="1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3296647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크롤러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1376" y="3314935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게시판·첨부 파싱 · pgvector 적재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0471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75063"/>
            <a:ext cx="1645920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이태욱</a:t>
            </a:r>
            <a:endParaRPr sz="1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4275063"/>
            <a:ext cx="237744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D1D1F"/>
                </a:solidFill>
                <a:latin typeface="Aptos SemiBold"/>
              </a:rPr>
              <a:t>UI</a:t>
            </a:r>
            <a:r>
              <a:rPr lang="ko-KR" altLang="en-US" sz="1400" err="1">
                <a:solidFill>
                  <a:srgbClr val="1D1D1F"/>
                </a:solidFill>
                <a:latin typeface="Aptos SemiBold"/>
              </a:rPr>
              <a:t>전처리</a:t>
            </a:r>
            <a:r>
              <a:rPr lang="ko-KR" altLang="en-US" sz="1400">
                <a:solidFill>
                  <a:srgbClr val="1D1D1F"/>
                </a:solidFill>
                <a:latin typeface="Aptos SemiBold"/>
              </a:rPr>
              <a:t> </a:t>
            </a:r>
            <a:r>
              <a:rPr lang="en-US" altLang="ko-KR" sz="1400">
                <a:solidFill>
                  <a:srgbClr val="1D1D1F"/>
                </a:solidFill>
                <a:latin typeface="Aptos SemiBold"/>
              </a:rPr>
              <a:t>/</a:t>
            </a:r>
            <a:r>
              <a:rPr lang="ko-KR" altLang="en-US" sz="1400">
                <a:solidFill>
                  <a:srgbClr val="1D1D1F"/>
                </a:solidFill>
                <a:latin typeface="Aptos SemiBold"/>
              </a:rPr>
              <a:t> 정략적 벤치마크</a:t>
            </a:r>
            <a:endParaRPr sz="140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51376" y="4293352"/>
            <a:ext cx="5852160" cy="22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>
                <a:solidFill>
                  <a:srgbClr val="333333"/>
                </a:solidFill>
                <a:latin typeface="Aptos"/>
              </a:rPr>
              <a:t>카카오 연동</a:t>
            </a:r>
            <a:r>
              <a:rPr sz="1300">
                <a:solidFill>
                  <a:srgbClr val="333333"/>
                </a:solidFill>
                <a:latin typeface="Aptos"/>
              </a:rPr>
              <a:t> ·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시나리오 검증</a:t>
            </a:r>
            <a:r>
              <a:rPr sz="1300">
                <a:solidFill>
                  <a:srgbClr val="333333"/>
                </a:solidFill>
                <a:latin typeface="Aptos"/>
              </a:rPr>
              <a:t>· </a:t>
            </a:r>
            <a:r>
              <a:rPr lang="ko-KR" altLang="en-US" sz="1300">
                <a:solidFill>
                  <a:srgbClr val="333333"/>
                </a:solidFill>
                <a:latin typeface="Aptos"/>
              </a:rPr>
              <a:t>평가 데이터셋 구축</a:t>
            </a:r>
            <a:endParaRPr sz="1300">
              <a:solidFill>
                <a:srgbClr val="3333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9064" y="5088887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7664" y="5253479"/>
            <a:ext cx="1645920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박성환</a:t>
            </a:r>
            <a:endParaRPr sz="140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6464" y="5253479"/>
            <a:ext cx="2377440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err="1">
                <a:solidFill>
                  <a:srgbClr val="1D1D1F"/>
                </a:solidFill>
                <a:latin typeface="Aptos SemiBold"/>
              </a:rPr>
              <a:t>백엔드</a:t>
            </a:r>
            <a:endParaRPr sz="140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43200" y="5271767"/>
            <a:ext cx="5852160" cy="22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err="1">
                <a:solidFill>
                  <a:srgbClr val="333333"/>
                </a:solidFill>
                <a:latin typeface="Aptos"/>
              </a:rPr>
              <a:t>FastAPI</a:t>
            </a:r>
            <a:r>
              <a:rPr sz="1300">
                <a:solidFill>
                  <a:srgbClr val="333333"/>
                </a:solidFill>
                <a:latin typeface="Aptos"/>
              </a:rPr>
              <a:t> · </a:t>
            </a:r>
            <a:r>
              <a:rPr sz="1300" err="1">
                <a:solidFill>
                  <a:srgbClr val="333333"/>
                </a:solidFill>
                <a:latin typeface="Aptos"/>
              </a:rPr>
              <a:t>카카오</a:t>
            </a:r>
            <a:r>
              <a:rPr sz="1300">
                <a:solidFill>
                  <a:srgbClr val="333333"/>
                </a:solidFill>
                <a:latin typeface="Aptos"/>
              </a:rPr>
              <a:t> </a:t>
            </a:r>
            <a:r>
              <a:rPr sz="1300" err="1">
                <a:solidFill>
                  <a:srgbClr val="333333"/>
                </a:solidFill>
                <a:latin typeface="Aptos"/>
              </a:rPr>
              <a:t>웹훅</a:t>
            </a:r>
            <a:r>
              <a:rPr sz="1300">
                <a:solidFill>
                  <a:srgbClr val="333333"/>
                </a:solidFill>
                <a:latin typeface="Aptos"/>
              </a:rPr>
              <a:t> · </a:t>
            </a:r>
            <a:r>
              <a:rPr lang="en-US" sz="1300">
                <a:solidFill>
                  <a:srgbClr val="333333"/>
                </a:solidFill>
                <a:latin typeface="Aptos"/>
              </a:rPr>
              <a:t>1</a:t>
            </a:r>
            <a:r>
              <a:rPr lang="ko-KR" altLang="en-US" sz="1300" err="1">
                <a:solidFill>
                  <a:srgbClr val="333333"/>
                </a:solidFill>
                <a:latin typeface="Aptos"/>
              </a:rPr>
              <a:t>차필터</a:t>
            </a:r>
            <a:r>
              <a:rPr sz="1300">
                <a:solidFill>
                  <a:srgbClr val="333333"/>
                </a:solidFill>
                <a:latin typeface="Aptos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03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최종 결과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spc="-40" err="1">
                <a:solidFill>
                  <a:srgbClr val="1D1D1F"/>
                </a:solidFill>
                <a:latin typeface="Aptos SemiBold"/>
              </a:rPr>
              <a:t>배우고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</a:t>
            </a:r>
            <a:r>
              <a:rPr sz="3200" b="1" spc="-40" err="1">
                <a:solidFill>
                  <a:srgbClr val="1D1D1F"/>
                </a:solidFill>
                <a:latin typeface="Aptos SemiBold"/>
              </a:rPr>
              <a:t>느낀</a:t>
            </a:r>
            <a:r>
              <a:rPr sz="3200" b="1" spc="-40">
                <a:solidFill>
                  <a:srgbClr val="1D1D1F"/>
                </a:solidFill>
                <a:latin typeface="Aptos SemiBold"/>
              </a:rPr>
              <a:t> 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43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71738"/>
            <a:ext cx="10634472" cy="9017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764194"/>
            <a:ext cx="29230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spc="-30">
                <a:solidFill>
                  <a:srgbClr val="0066CC"/>
                </a:solidFill>
                <a:latin typeface="Aptos SemiBold"/>
                <a:ea typeface="맑은 고딕"/>
              </a:rPr>
              <a:t>황현우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4" y="2052911"/>
            <a:ext cx="1031900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400"/>
              <a:t>RAG 시스템은 검색 품질이 응답 품질에 직접적인 영향을 준다는 점을 체감할 수 있었습니다. 하이브리드 검색과 점수 조정을 통해 검색 성능을 개선하며 정보검색 이론에 대한 이해를 높일 수 있었고, 다양한 검색 신호를 함께 고려하는 중요성을 배울 수 있었습니다.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44276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dirty="0">
                <a:solidFill>
                  <a:srgbClr val="7A7A7A"/>
                </a:solidFill>
                <a:latin typeface="Aptos"/>
              </a:rPr>
              <a:t>14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82D398BE-FDDA-2178-E96A-76F4C512270F}"/>
              </a:ext>
            </a:extLst>
          </p:cNvPr>
          <p:cNvSpPr/>
          <p:nvPr/>
        </p:nvSpPr>
        <p:spPr>
          <a:xfrm>
            <a:off x="777240" y="2722374"/>
            <a:ext cx="10634472" cy="9017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00878-F251-174C-DB4F-24AA4BFE7E3A}"/>
              </a:ext>
            </a:extLst>
          </p:cNvPr>
          <p:cNvSpPr txBox="1"/>
          <p:nvPr/>
        </p:nvSpPr>
        <p:spPr>
          <a:xfrm>
            <a:off x="996695" y="2814830"/>
            <a:ext cx="29230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spc="-30">
                <a:solidFill>
                  <a:srgbClr val="0066CC"/>
                </a:solidFill>
                <a:latin typeface="Aptos SemiBold"/>
                <a:ea typeface="맑은 고딕"/>
              </a:rPr>
              <a:t>박성환</a:t>
            </a:r>
            <a:endParaRPr sz="1500" spc="-30">
              <a:solidFill>
                <a:srgbClr val="0066CC"/>
              </a:solidFill>
              <a:latin typeface="Aptos SemiBold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1FFB54-990A-B613-7535-FA994D72657A}"/>
              </a:ext>
            </a:extLst>
          </p:cNvPr>
          <p:cNvSpPr txBox="1"/>
          <p:nvPr/>
        </p:nvSpPr>
        <p:spPr>
          <a:xfrm>
            <a:off x="996694" y="3103547"/>
            <a:ext cx="1031900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400"/>
              <a:t>이번 프로젝트를 통해 </a:t>
            </a:r>
            <a:r>
              <a:rPr lang="ko-KR" altLang="ko-KR" sz="1400" err="1"/>
              <a:t>크롤링</a:t>
            </a:r>
            <a:r>
              <a:rPr lang="ko-KR" altLang="ko-KR" sz="1400"/>
              <a:t>, 데이터베이스 설계, </a:t>
            </a:r>
            <a:r>
              <a:rPr lang="ko-KR" altLang="ko-KR" sz="1400" err="1"/>
              <a:t>백엔드</a:t>
            </a:r>
            <a:r>
              <a:rPr lang="ko-KR" altLang="ko-KR" sz="1400"/>
              <a:t> 서버 구축, RAG 기반 AI </a:t>
            </a:r>
            <a:r>
              <a:rPr lang="ko-KR" altLang="ko-KR" sz="1400" err="1"/>
              <a:t>챗봇</a:t>
            </a:r>
            <a:r>
              <a:rPr lang="ko-KR" altLang="ko-KR" sz="1400"/>
              <a:t> 개발까지 전체 시스템 개발 과정을 경험할 수 있었습니다. 또한 데이터 수집부터 서버 연동까지 직접 수행하며 시스템 구조를 이해하고 문제 해결 능력을 향상시킬 수 있었습니다.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BEB28530-E8EE-9FD5-03B1-36C36B235332}"/>
              </a:ext>
            </a:extLst>
          </p:cNvPr>
          <p:cNvSpPr/>
          <p:nvPr/>
        </p:nvSpPr>
        <p:spPr>
          <a:xfrm>
            <a:off x="777240" y="3773010"/>
            <a:ext cx="10634472" cy="9017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951749-3D32-E618-BD11-2646C6144444}"/>
              </a:ext>
            </a:extLst>
          </p:cNvPr>
          <p:cNvSpPr txBox="1"/>
          <p:nvPr/>
        </p:nvSpPr>
        <p:spPr>
          <a:xfrm>
            <a:off x="996695" y="3865466"/>
            <a:ext cx="29230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spc="-30">
                <a:solidFill>
                  <a:srgbClr val="0066CC"/>
                </a:solidFill>
                <a:latin typeface="Aptos SemiBold"/>
                <a:ea typeface="맑은 고딕"/>
              </a:rPr>
              <a:t>이지훈</a:t>
            </a:r>
            <a:endParaRPr sz="1500" spc="-30">
              <a:solidFill>
                <a:srgbClr val="0066CC"/>
              </a:solidFill>
              <a:latin typeface="Aptos SemiBold"/>
              <a:ea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CEE3AF-C4B7-649B-6CF7-B5D49525DD33}"/>
              </a:ext>
            </a:extLst>
          </p:cNvPr>
          <p:cNvSpPr txBox="1"/>
          <p:nvPr/>
        </p:nvSpPr>
        <p:spPr>
          <a:xfrm>
            <a:off x="996694" y="4154183"/>
            <a:ext cx="1031900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400"/>
              <a:t>대규모 사이트를 분석하고 필요한 정보를 수집하는 과정에서 웹 구조와 데이터 수집의 중요성을 배울 수 있었습니다. 또한 문서 수집 및 </a:t>
            </a:r>
            <a:r>
              <a:rPr lang="ko-KR" altLang="ko-KR" sz="1400" err="1"/>
              <a:t>전처리</a:t>
            </a:r>
            <a:r>
              <a:rPr lang="ko-KR" altLang="ko-KR" sz="1400"/>
              <a:t> 과정을 경험하며 데이터 처리 역량을 키웠고, 협업과 디버깅 능력도 함께 향상시킬 수 있었습니다.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8CFDF933-C3D3-B1F0-8A7D-22E2CC4C3A25}"/>
              </a:ext>
            </a:extLst>
          </p:cNvPr>
          <p:cNvSpPr/>
          <p:nvPr/>
        </p:nvSpPr>
        <p:spPr>
          <a:xfrm>
            <a:off x="777240" y="4823646"/>
            <a:ext cx="10634472" cy="90170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82087-195A-6AD9-292B-36F2F8C5379F}"/>
              </a:ext>
            </a:extLst>
          </p:cNvPr>
          <p:cNvSpPr txBox="1"/>
          <p:nvPr/>
        </p:nvSpPr>
        <p:spPr>
          <a:xfrm>
            <a:off x="996695" y="4916102"/>
            <a:ext cx="29230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spc="-30">
                <a:solidFill>
                  <a:srgbClr val="0066CC"/>
                </a:solidFill>
                <a:latin typeface="Aptos SemiBold"/>
                <a:ea typeface="맑은 고딕"/>
              </a:rPr>
              <a:t>이태욱</a:t>
            </a:r>
            <a:endParaRPr sz="1500" spc="-30">
              <a:solidFill>
                <a:srgbClr val="0066CC"/>
              </a:solidFill>
              <a:latin typeface="Aptos SemiBold"/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AE85B-A48C-6335-3F08-0C60E9BCC157}"/>
              </a:ext>
            </a:extLst>
          </p:cNvPr>
          <p:cNvSpPr txBox="1"/>
          <p:nvPr/>
        </p:nvSpPr>
        <p:spPr>
          <a:xfrm>
            <a:off x="996694" y="5204819"/>
            <a:ext cx="1031900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sz="1400"/>
              <a:t>이번 프로젝트를 통해 실제 사용자를 위한 서비스를 개발하는 경험을 할 수 있었습니다. 여러 기술이 하나의 시스템으로 연결되는 과정을 이해할 수 있었으며, 테스트와 품질 검증, 사용자 관점의 서비스 개선이 중요하다는 점을 배울 수 있었습니다.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658367" y="3956177"/>
            <a:ext cx="5637657" cy="2289048"/>
          </a:xfrm>
          <a:prstGeom prst="roundRect">
            <a:avLst>
              <a:gd name="adj" fmla="val 7000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dirty="0">
                <a:solidFill>
                  <a:srgbClr val="CCCCCC"/>
                </a:solidFill>
                <a:latin typeface="Aptos"/>
              </a:rPr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58E8B-2579-9B7D-7A05-EC73FAE58D22}"/>
              </a:ext>
            </a:extLst>
          </p:cNvPr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03 · 최종 결과 · 3.8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82D3D0-EC5F-FE08-425D-D0C651C5CD8C}"/>
              </a:ext>
            </a:extLst>
          </p:cNvPr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FFFFFF"/>
                </a:solidFill>
                <a:latin typeface="Aptos SemiBold"/>
              </a:rPr>
              <a:t>주요 성과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0D9F71-9E12-F998-B70B-210E08747E13}"/>
              </a:ext>
            </a:extLst>
          </p:cNvPr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CCCCCC"/>
                </a:solidFill>
                <a:latin typeface="Aptos"/>
              </a:rPr>
              <a:t>골드셋 66문항 — 결정적 지표 중심으로, 정직하게.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27678B40-49E3-85BE-0B09-652C0342CF75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C0849-8EE4-85C0-3B61-941237DD0860}"/>
              </a:ext>
            </a:extLst>
          </p:cNvPr>
          <p:cNvSpPr txBox="1"/>
          <p:nvPr/>
        </p:nvSpPr>
        <p:spPr>
          <a:xfrm>
            <a:off x="777240" y="2542032"/>
            <a:ext cx="2112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87.9%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F6AE9-AD52-EB01-6B98-4AA854DB4DAF}"/>
              </a:ext>
            </a:extLst>
          </p:cNvPr>
          <p:cNvSpPr txBox="1"/>
          <p:nvPr/>
        </p:nvSpPr>
        <p:spPr>
          <a:xfrm>
            <a:off x="777240" y="3383280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Top-5 Hit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7FD60A-3773-6B88-1CDC-0078C558EB3A}"/>
              </a:ext>
            </a:extLst>
          </p:cNvPr>
          <p:cNvSpPr txBox="1"/>
          <p:nvPr/>
        </p:nvSpPr>
        <p:spPr>
          <a:xfrm>
            <a:off x="2907792" y="2542032"/>
            <a:ext cx="2112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87.9%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E41E12-2A58-8B50-65A7-4409F8B36B3D}"/>
              </a:ext>
            </a:extLst>
          </p:cNvPr>
          <p:cNvSpPr txBox="1"/>
          <p:nvPr/>
        </p:nvSpPr>
        <p:spPr>
          <a:xfrm>
            <a:off x="2907792" y="3383280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Context Hit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71194F-1169-6AE9-41A3-2676E72134DE}"/>
              </a:ext>
            </a:extLst>
          </p:cNvPr>
          <p:cNvSpPr txBox="1"/>
          <p:nvPr/>
        </p:nvSpPr>
        <p:spPr>
          <a:xfrm>
            <a:off x="5038344" y="2542032"/>
            <a:ext cx="2112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95.9%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276E7E-9379-6CE0-3FA5-4BE321CA3C95}"/>
              </a:ext>
            </a:extLst>
          </p:cNvPr>
          <p:cNvSpPr txBox="1"/>
          <p:nvPr/>
        </p:nvSpPr>
        <p:spPr>
          <a:xfrm>
            <a:off x="5038344" y="3383280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Grounded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839003-BD94-2759-F5B6-0906B440E90D}"/>
              </a:ext>
            </a:extLst>
          </p:cNvPr>
          <p:cNvSpPr txBox="1"/>
          <p:nvPr/>
        </p:nvSpPr>
        <p:spPr>
          <a:xfrm>
            <a:off x="7168896" y="2542032"/>
            <a:ext cx="2112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80.3%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21C9A4-4AAC-79C3-B370-7C25B049C3C6}"/>
              </a:ext>
            </a:extLst>
          </p:cNvPr>
          <p:cNvSpPr txBox="1"/>
          <p:nvPr/>
        </p:nvSpPr>
        <p:spPr>
          <a:xfrm>
            <a:off x="7168896" y="3383280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Correct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A3ED14-6371-EF32-E56F-92CCFCD934AE}"/>
              </a:ext>
            </a:extLst>
          </p:cNvPr>
          <p:cNvSpPr txBox="1"/>
          <p:nvPr/>
        </p:nvSpPr>
        <p:spPr>
          <a:xfrm>
            <a:off x="9299448" y="2542032"/>
            <a:ext cx="2112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3.0%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256424-91C6-94A1-F1AD-A5F9EB1C0A70}"/>
              </a:ext>
            </a:extLst>
          </p:cNvPr>
          <p:cNvSpPr txBox="1"/>
          <p:nvPr/>
        </p:nvSpPr>
        <p:spPr>
          <a:xfrm>
            <a:off x="9299448" y="3383280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Refused</a:t>
            </a: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FBB74E40-54EB-E813-7B25-F3A40D130377}"/>
              </a:ext>
            </a:extLst>
          </p:cNvPr>
          <p:cNvSpPr/>
          <p:nvPr/>
        </p:nvSpPr>
        <p:spPr>
          <a:xfrm>
            <a:off x="777240" y="38862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E656B7-B4FE-AACE-8F22-CD06E4CBC47D}"/>
              </a:ext>
            </a:extLst>
          </p:cNvPr>
          <p:cNvSpPr txBox="1"/>
          <p:nvPr/>
        </p:nvSpPr>
        <p:spPr>
          <a:xfrm>
            <a:off x="777240" y="4089273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2997FF"/>
                </a:solidFill>
                <a:latin typeface="Aptos SemiBold"/>
              </a:rPr>
              <a:t>Baseline → Final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A96C9E-A892-A4D4-8A08-069183E7785B}"/>
              </a:ext>
            </a:extLst>
          </p:cNvPr>
          <p:cNvSpPr txBox="1"/>
          <p:nvPr/>
        </p:nvSpPr>
        <p:spPr>
          <a:xfrm>
            <a:off x="777240" y="44256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Answer Refused</a:t>
            </a:r>
          </a:p>
        </p:txBody>
      </p:sp>
      <p:sp>
        <p:nvSpPr>
          <p:cNvPr id="46" name="Rectangle 18">
            <a:extLst>
              <a:ext uri="{FF2B5EF4-FFF2-40B4-BE49-F238E27FC236}">
                <a16:creationId xmlns:a16="http://schemas.microsoft.com/office/drawing/2014/main" id="{76C783F3-CE08-BB5E-27DB-4178FF25B169}"/>
              </a:ext>
            </a:extLst>
          </p:cNvPr>
          <p:cNvSpPr/>
          <p:nvPr/>
        </p:nvSpPr>
        <p:spPr>
          <a:xfrm>
            <a:off x="2743200" y="4462272"/>
            <a:ext cx="287670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9">
            <a:extLst>
              <a:ext uri="{FF2B5EF4-FFF2-40B4-BE49-F238E27FC236}">
                <a16:creationId xmlns:a16="http://schemas.microsoft.com/office/drawing/2014/main" id="{71B195C4-B5F5-11F0-7E5D-7D3B044E07E9}"/>
              </a:ext>
            </a:extLst>
          </p:cNvPr>
          <p:cNvSpPr/>
          <p:nvPr/>
        </p:nvSpPr>
        <p:spPr>
          <a:xfrm>
            <a:off x="2743200" y="4636008"/>
            <a:ext cx="71323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267604-A719-0F7A-D497-BDEADB0E6834}"/>
              </a:ext>
            </a:extLst>
          </p:cNvPr>
          <p:cNvSpPr txBox="1"/>
          <p:nvPr/>
        </p:nvSpPr>
        <p:spPr>
          <a:xfrm>
            <a:off x="777240" y="49560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Answer Correct</a:t>
            </a:r>
          </a:p>
        </p:txBody>
      </p:sp>
      <p:sp>
        <p:nvSpPr>
          <p:cNvPr id="49" name="Rectangle 22">
            <a:extLst>
              <a:ext uri="{FF2B5EF4-FFF2-40B4-BE49-F238E27FC236}">
                <a16:creationId xmlns:a16="http://schemas.microsoft.com/office/drawing/2014/main" id="{2E405470-7F18-8E1B-A386-BBF40F42A287}"/>
              </a:ext>
            </a:extLst>
          </p:cNvPr>
          <p:cNvSpPr/>
          <p:nvPr/>
        </p:nvSpPr>
        <p:spPr>
          <a:xfrm>
            <a:off x="2743200" y="4992624"/>
            <a:ext cx="1692737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3">
            <a:extLst>
              <a:ext uri="{FF2B5EF4-FFF2-40B4-BE49-F238E27FC236}">
                <a16:creationId xmlns:a16="http://schemas.microsoft.com/office/drawing/2014/main" id="{01276888-D426-323F-435F-F7D0C78A9D05}"/>
              </a:ext>
            </a:extLst>
          </p:cNvPr>
          <p:cNvSpPr/>
          <p:nvPr/>
        </p:nvSpPr>
        <p:spPr>
          <a:xfrm>
            <a:off x="2743200" y="5166360"/>
            <a:ext cx="1909084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A9BFE3-C152-D566-2517-904246350485}"/>
              </a:ext>
            </a:extLst>
          </p:cNvPr>
          <p:cNvSpPr txBox="1"/>
          <p:nvPr/>
        </p:nvSpPr>
        <p:spPr>
          <a:xfrm>
            <a:off x="777240" y="5486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학과별 Context</a:t>
            </a:r>
          </a:p>
        </p:txBody>
      </p:sp>
      <p:sp>
        <p:nvSpPr>
          <p:cNvPr id="52" name="Rectangle 26">
            <a:extLst>
              <a:ext uri="{FF2B5EF4-FFF2-40B4-BE49-F238E27FC236}">
                <a16:creationId xmlns:a16="http://schemas.microsoft.com/office/drawing/2014/main" id="{32611B4E-9305-F1B9-6135-C47F13714310}"/>
              </a:ext>
            </a:extLst>
          </p:cNvPr>
          <p:cNvSpPr/>
          <p:nvPr/>
        </p:nvSpPr>
        <p:spPr>
          <a:xfrm>
            <a:off x="2743200" y="5522976"/>
            <a:ext cx="1592884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27">
            <a:extLst>
              <a:ext uri="{FF2B5EF4-FFF2-40B4-BE49-F238E27FC236}">
                <a16:creationId xmlns:a16="http://schemas.microsoft.com/office/drawing/2014/main" id="{1A58647D-2A36-33A8-65E7-472D109CF35A}"/>
              </a:ext>
            </a:extLst>
          </p:cNvPr>
          <p:cNvSpPr/>
          <p:nvPr/>
        </p:nvSpPr>
        <p:spPr>
          <a:xfrm>
            <a:off x="2743200" y="5696712"/>
            <a:ext cx="1973275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C9D751-1F0A-520A-E906-C2EA7D226296}"/>
              </a:ext>
            </a:extLst>
          </p:cNvPr>
          <p:cNvSpPr txBox="1"/>
          <p:nvPr/>
        </p:nvSpPr>
        <p:spPr>
          <a:xfrm>
            <a:off x="5212080" y="44535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CCCCCC"/>
                </a:solidFill>
                <a:latin typeface="Consolas"/>
              </a:rPr>
              <a:t>12.1 → 3.0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C28870-09B9-0350-D86D-2532D073DFC9}"/>
              </a:ext>
            </a:extLst>
          </p:cNvPr>
          <p:cNvSpPr txBox="1"/>
          <p:nvPr/>
        </p:nvSpPr>
        <p:spPr>
          <a:xfrm>
            <a:off x="5212080" y="5002911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71.2 → 80.3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5A82D2-AE6C-8CDF-716D-F60D815BFF83}"/>
              </a:ext>
            </a:extLst>
          </p:cNvPr>
          <p:cNvSpPr txBox="1"/>
          <p:nvPr/>
        </p:nvSpPr>
        <p:spPr>
          <a:xfrm>
            <a:off x="5212080" y="553326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67 → 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dirty="0">
                <a:solidFill>
                  <a:srgbClr val="0066CC"/>
                </a:solidFill>
                <a:latin typeface="Aptos SemiBold"/>
              </a:rPr>
              <a:t>04 · </a:t>
            </a:r>
            <a:r>
              <a:rPr sz="1200" dirty="0" err="1">
                <a:solidFill>
                  <a:srgbClr val="0066CC"/>
                </a:solidFill>
                <a:latin typeface="Aptos SemiBold"/>
              </a:rPr>
              <a:t>결론</a:t>
            </a:r>
            <a:endParaRPr sz="1200" dirty="0">
              <a:solidFill>
                <a:srgbClr val="0066CC"/>
              </a:solidFill>
              <a:latin typeface="Aptos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결론 및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흩어진 정보를, 한 곳에서, 근거와 함께.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유사 서비스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2743200"/>
            <a:ext cx="1344168" cy="2926080"/>
          </a:xfrm>
          <a:prstGeom prst="roundRect">
            <a:avLst>
              <a:gd name="adj" fmla="val 6802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1635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홈페이지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1635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81635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dong-gu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18688"/>
            <a:ext cx="6035040" cy="127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자연어 질의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3467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467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673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039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공식 문서 기반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8039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8039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8039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245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611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첨부파일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611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611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2611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817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7183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카카오톡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7183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7183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7183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389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1755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근거 출처 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1755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1755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17550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5961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995160" y="2697480"/>
            <a:ext cx="4416552" cy="315468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14616" y="2916936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향후 과제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3282696"/>
            <a:ext cx="3977639" cy="238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평가 다회 평균화로 분산 완화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재크롤링 확대로 DB 갭 보완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cross-encoder 리랭커 도입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repair 커버리지 확대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609904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학생이 늘 쓰는 카카오톡에서, 공식 문서에 근거한 답을.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결론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05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참고문헌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 err="1">
                <a:solidFill>
                  <a:srgbClr val="1D1D1F"/>
                </a:solidFill>
                <a:latin typeface="Aptos SemiBold"/>
              </a:rPr>
              <a:t>참고문</a:t>
            </a: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34472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642615"/>
            <a:ext cx="469544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spc="-30">
                <a:solidFill>
                  <a:srgbClr val="1D1D1F"/>
                </a:solidFill>
                <a:latin typeface="Aptos SemiBold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4" y="3101506"/>
            <a:ext cx="6498979" cy="2725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1. Lewis et al. (2020) — RAG,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NeurIPS</a:t>
            </a:r>
            <a:endParaRPr sz="20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2. Robertson &amp; Zaragoza (2009) — BM25</a:t>
            </a: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3. NAVER (2023) — KoE5 embedding</a:t>
            </a: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4.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Supabase</a:t>
            </a:r>
            <a:r>
              <a:rPr sz="2000" dirty="0">
                <a:solidFill>
                  <a:srgbClr val="33333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pgvector</a:t>
            </a:r>
            <a:r>
              <a:rPr sz="2000" dirty="0">
                <a:solidFill>
                  <a:srgbClr val="333333"/>
                </a:solidFill>
                <a:latin typeface="Aptos"/>
              </a:rPr>
              <a:t> docs</a:t>
            </a: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5. Kakao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i</a:t>
            </a:r>
            <a:r>
              <a:rPr sz="2000" dirty="0">
                <a:solidFill>
                  <a:srgbClr val="33333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오픈빌더</a:t>
            </a:r>
            <a:r>
              <a:rPr sz="2000" dirty="0">
                <a:solidFill>
                  <a:srgbClr val="33333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333333"/>
                </a:solidFill>
                <a:latin typeface="Aptos"/>
              </a:rPr>
              <a:t>가이드</a:t>
            </a:r>
            <a:endParaRPr sz="2000" dirty="0">
              <a:solidFill>
                <a:srgbClr val="333333"/>
              </a:solidFill>
              <a:latin typeface="Aptos"/>
            </a:endParaRP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Aptos"/>
              </a:rPr>
              <a:t>6. bab2min (2021) — Kiwi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F9B5D-080F-358E-4665-A39E548C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46BBC-490C-7AAF-5F95-C9185640DE6F}"/>
              </a:ext>
            </a:extLst>
          </p:cNvPr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06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설치 메뉴얼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77777-1526-578C-699C-37FA8962493F}"/>
              </a:ext>
            </a:extLst>
          </p:cNvPr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설치 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74444-5715-5F17-A62D-11CF2996A8FD}"/>
              </a:ext>
            </a:extLst>
          </p:cNvPr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핵심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라이브러리</a:t>
            </a:r>
            <a:endParaRPr lang="ko-KR" altLang="en-US"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1A9CC-4C7B-28A2-E21D-172E42E453BE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625B5D-B9EB-7E8E-1CF7-FE16F1168384}"/>
              </a:ext>
            </a:extLst>
          </p:cNvPr>
          <p:cNvSpPr/>
          <p:nvPr/>
        </p:nvSpPr>
        <p:spPr>
          <a:xfrm>
            <a:off x="777240" y="2423160"/>
            <a:ext cx="5134356" cy="39192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72070-0FB5-4DB6-486A-0AE976FCC2A0}"/>
              </a:ext>
            </a:extLst>
          </p:cNvPr>
          <p:cNvSpPr txBox="1"/>
          <p:nvPr/>
        </p:nvSpPr>
        <p:spPr>
          <a:xfrm>
            <a:off x="996695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1.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저장소 클론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96D76D-AC5D-66E3-791B-3FF2DD6BE63B}"/>
              </a:ext>
            </a:extLst>
          </p:cNvPr>
          <p:cNvSpPr/>
          <p:nvPr/>
        </p:nvSpPr>
        <p:spPr>
          <a:xfrm>
            <a:off x="6277356" y="2423160"/>
            <a:ext cx="5134356" cy="3881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482F6-6DD5-6ADE-4A31-24395DB7C461}"/>
              </a:ext>
            </a:extLst>
          </p:cNvPr>
          <p:cNvSpPr txBox="1"/>
          <p:nvPr/>
        </p:nvSpPr>
        <p:spPr>
          <a:xfrm>
            <a:off x="5925312" y="6419088"/>
            <a:ext cx="548640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000">
                <a:solidFill>
                  <a:srgbClr val="7A7A7A"/>
                </a:solidFill>
                <a:latin typeface="Aptos"/>
              </a:rPr>
              <a:t>18</a:t>
            </a:r>
            <a:endParaRPr sz="1000">
              <a:solidFill>
                <a:srgbClr val="7A7A7A"/>
              </a:solidFill>
              <a:latin typeface="Apto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1FF2838-11B0-D16B-FAE7-7B2D8BEA9719}"/>
              </a:ext>
            </a:extLst>
          </p:cNvPr>
          <p:cNvSpPr/>
          <p:nvPr/>
        </p:nvSpPr>
        <p:spPr>
          <a:xfrm>
            <a:off x="871971" y="3035169"/>
            <a:ext cx="4695444" cy="7186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sz="1400" err="1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git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clone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https://github.com/[org]/dong-gu.git </a:t>
            </a:r>
            <a:br>
              <a:rPr lang="ko-KR" altLang="en-US" sz="1400">
                <a:latin typeface="Consolas"/>
                <a:ea typeface="둥근펜"/>
                <a:cs typeface="+mn-lt"/>
              </a:rPr>
            </a:br>
            <a:r>
              <a:rPr lang="ko-KR" sz="1400" err="1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cd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dong-gu</a:t>
            </a:r>
            <a:endParaRPr lang="ko-KR" sz="1400">
              <a:solidFill>
                <a:schemeClr val="tx1"/>
              </a:solidFill>
              <a:latin typeface="Consolas"/>
              <a:ea typeface="둥근펜"/>
              <a:cs typeface="Calibri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C490F2-6A63-E290-8E51-5909C983C93C}"/>
              </a:ext>
            </a:extLst>
          </p:cNvPr>
          <p:cNvSpPr/>
          <p:nvPr/>
        </p:nvSpPr>
        <p:spPr>
          <a:xfrm>
            <a:off x="6376737" y="3043916"/>
            <a:ext cx="2904423" cy="2462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cp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.env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.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example</a:t>
            </a:r>
            <a:r>
              <a:rPr 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.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env</a:t>
            </a:r>
            <a:endParaRPr lang="ko-KR" altLang="en-US" sz="140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60E2CE-3FB6-B9D9-896D-BFE3EE0B213D}"/>
              </a:ext>
            </a:extLst>
          </p:cNvPr>
          <p:cNvSpPr/>
          <p:nvPr/>
        </p:nvSpPr>
        <p:spPr>
          <a:xfrm>
            <a:off x="6376737" y="3428999"/>
            <a:ext cx="4943292" cy="272067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OpenAI </a:t>
            </a:r>
            <a:endParaRPr lang="ko-KR" altLang="en-US" sz="1200" dirty="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OPENAI_API_KEY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200" dirty="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sk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-... </a:t>
            </a:r>
            <a:endParaRPr lang="ko-KR" altLang="en-US" sz="1200" dirty="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OPENAI_MODEL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=gpt-4o-mini</a:t>
            </a:r>
            <a:endParaRPr lang="ko-KR" altLang="en-US" sz="1200" dirty="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</a:t>
            </a:r>
            <a:r>
              <a:rPr lang="ko-KR" alt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임베딩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모델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(</a:t>
            </a:r>
            <a:r>
              <a:rPr lang="ko-KR" alt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자동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다운로드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) </a:t>
            </a:r>
            <a:endParaRPr lang="ko-KR" altLang="en-US" sz="1200" dirty="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EMBEDDING_MODEL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200" dirty="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nlpai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-lab/KoE5 </a:t>
            </a:r>
          </a:p>
          <a:p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하이브리드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검색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설정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(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운영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권장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) </a:t>
            </a:r>
            <a:endParaRPr lang="ko-KR" altLang="en-US" sz="1200" dirty="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HYBRID_SCORE_MODE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1200" dirty="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srrf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HYBRID_SRRF_BETA=20 </a:t>
            </a:r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HYBRID_LEXICAL_WEIGHT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=0.55 HYBRID_VECTOR_WEIGHT=0.45 </a:t>
            </a:r>
          </a:p>
          <a:p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벡터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전용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검색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패밀리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(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검색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품질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최적화</a:t>
            </a:r>
            <a:r>
              <a:rPr lang="en-US" sz="1200" dirty="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RAG_VECTOR_ONLY_FAMILIES</a:t>
            </a:r>
            <a:r>
              <a:rPr lang="en-US" sz="12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=</a:t>
            </a:r>
            <a:endParaRPr lang="ko-KR" altLang="en-US" sz="1200" dirty="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1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department_curriculum,building_location,welfare_facility,campus_address,person_title,course_registration,academic_schedule,seasonal_course_registration,specific_scholarship,graduation,certificate,scholarship,grade,career</a:t>
            </a:r>
            <a:endParaRPr lang="ko-KR" sz="1100" dirty="0">
              <a:solidFill>
                <a:schemeClr val="tx1"/>
              </a:solidFill>
              <a:ea typeface="맑은 고딕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19183-D413-B2A3-4C8C-EB6CAC4B6EC2}"/>
              </a:ext>
            </a:extLst>
          </p:cNvPr>
          <p:cNvSpPr txBox="1"/>
          <p:nvPr/>
        </p:nvSpPr>
        <p:spPr>
          <a:xfrm>
            <a:off x="6499861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2.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환경 변수 설정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99684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87859-D204-B17D-62B9-221663F9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FD5F5-CBD5-3153-7831-AF88BDBCEAEF}"/>
              </a:ext>
            </a:extLst>
          </p:cNvPr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06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설치 메뉴얼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732E9-7843-3C75-705B-CAC7D2197FDB}"/>
              </a:ext>
            </a:extLst>
          </p:cNvPr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설치 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21B90-4224-72D9-B7FD-3C93E7AE9ABE}"/>
              </a:ext>
            </a:extLst>
          </p:cNvPr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DB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초기화 및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Docker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시작</a:t>
            </a:r>
            <a:endParaRPr lang="ko-KR" altLang="en-US"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BC1A7-0A9D-82AE-A331-FE0FF018D8F1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AF407F-FDE4-E1EA-DEB6-B9EEA615DB76}"/>
              </a:ext>
            </a:extLst>
          </p:cNvPr>
          <p:cNvSpPr/>
          <p:nvPr/>
        </p:nvSpPr>
        <p:spPr>
          <a:xfrm>
            <a:off x="777240" y="2423160"/>
            <a:ext cx="5134356" cy="39192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77D1B-B6EF-D708-F6F3-0A671F8DDA61}"/>
              </a:ext>
            </a:extLst>
          </p:cNvPr>
          <p:cNvSpPr txBox="1"/>
          <p:nvPr/>
        </p:nvSpPr>
        <p:spPr>
          <a:xfrm>
            <a:off x="996695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3. DB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초기화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0D7FBD-AB51-AE52-E6CD-61B36D3B10BA}"/>
              </a:ext>
            </a:extLst>
          </p:cNvPr>
          <p:cNvSpPr/>
          <p:nvPr/>
        </p:nvSpPr>
        <p:spPr>
          <a:xfrm>
            <a:off x="6277356" y="2423160"/>
            <a:ext cx="5134356" cy="3881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483AE8-5A93-2CF9-0DD9-0B4CEDE68772}"/>
              </a:ext>
            </a:extLst>
          </p:cNvPr>
          <p:cNvSpPr txBox="1"/>
          <p:nvPr/>
        </p:nvSpPr>
        <p:spPr>
          <a:xfrm>
            <a:off x="5925312" y="6419088"/>
            <a:ext cx="548640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000">
                <a:solidFill>
                  <a:srgbClr val="7A7A7A"/>
                </a:solidFill>
                <a:latin typeface="Aptos"/>
              </a:rPr>
              <a:t>19</a:t>
            </a:r>
            <a:endParaRPr sz="1000">
              <a:solidFill>
                <a:srgbClr val="7A7A7A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283F91-4C31-948C-6D67-CD5D1F83C27D}"/>
              </a:ext>
            </a:extLst>
          </p:cNvPr>
          <p:cNvSpPr txBox="1"/>
          <p:nvPr/>
        </p:nvSpPr>
        <p:spPr>
          <a:xfrm>
            <a:off x="6499861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 dirty="0">
                <a:solidFill>
                  <a:srgbClr val="1D1D1F"/>
                </a:solidFill>
                <a:latin typeface="Aptos SemiBold"/>
              </a:rPr>
              <a:t>4. </a:t>
            </a:r>
            <a:r>
              <a:rPr lang="en-US" altLang="ko-KR" sz="1600" spc="-30" dirty="0">
                <a:solidFill>
                  <a:srgbClr val="1D1D1F"/>
                </a:solidFill>
                <a:latin typeface="Aptos SemiBold"/>
              </a:rPr>
              <a:t>Docker </a:t>
            </a:r>
            <a:r>
              <a:rPr lang="ko-KR" altLang="en-US" sz="1600" spc="-30" dirty="0">
                <a:solidFill>
                  <a:srgbClr val="1D1D1F"/>
                </a:solidFill>
                <a:latin typeface="Aptos SemiBold"/>
              </a:rPr>
              <a:t>서비스 시작</a:t>
            </a:r>
            <a:endParaRPr sz="1600" spc="-30" dirty="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3ECD71-2833-8885-1E65-D5D7B1BE10CD}"/>
              </a:ext>
            </a:extLst>
          </p:cNvPr>
          <p:cNvSpPr/>
          <p:nvPr/>
        </p:nvSpPr>
        <p:spPr>
          <a:xfrm>
            <a:off x="993052" y="3013296"/>
            <a:ext cx="4373032" cy="323110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--</a:t>
            </a:r>
            <a:r>
              <a:rPr lang="ko-KR" altLang="en-US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pgvector</a:t>
            </a:r>
            <a:r>
              <a:rPr lang="ko-KR" altLang="en-US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확장 활성화 </a:t>
            </a:r>
            <a:endParaRPr lang="ko-KR" sz="1200">
              <a:solidFill>
                <a:schemeClr val="accent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create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extension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if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not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exists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vector;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--</a:t>
            </a:r>
            <a:r>
              <a:rPr lang="ko-KR" altLang="en-US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문서 청크 테이블 </a:t>
            </a:r>
            <a:endParaRPr lang="ko-KR" sz="1200">
              <a:solidFill>
                <a:schemeClr val="accent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create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table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document_chunks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 id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bigserial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primary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key,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 content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text,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 embedding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vector(768),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source_url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text,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doc_type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text,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created_at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timestamptz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default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now()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);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--</a:t>
            </a:r>
            <a:r>
              <a:rPr lang="ko-KR" altLang="en-US" sz="12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벡터 인덱스 </a:t>
            </a:r>
            <a:endParaRPr lang="ko-KR" sz="1200">
              <a:solidFill>
                <a:schemeClr val="accent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create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index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on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document_chunks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 using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ivfflat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(embedding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  </a:t>
            </a:r>
            <a:endParaRPr lang="ko-KR" altLang="en-US" sz="1200">
              <a:solidFill>
                <a:schemeClr val="tx1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                </a:t>
            </a:r>
            <a:r>
              <a:rPr lang="en-US" altLang="ko-KR" sz="12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vector_cosine_ops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sz="1200">
              <a:solidFill>
                <a:schemeClr val="tx1"/>
              </a:solidFill>
              <a:ea typeface="맑은 고딕"/>
              <a:cs typeface="Calibri"/>
            </a:endParaRPr>
          </a:p>
          <a:p>
            <a:r>
              <a:rPr lang="en-US" altLang="ko-KR" sz="12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 with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맑은 고딕"/>
                <a:cs typeface="Calibri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(lists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맑은 고딕"/>
                <a:cs typeface="Calibri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ko-KR" altLang="en-US" sz="1200">
                <a:solidFill>
                  <a:schemeClr val="tx1"/>
                </a:solidFill>
                <a:latin typeface="Consolas"/>
                <a:ea typeface="맑은 고딕"/>
                <a:cs typeface="Calibri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100);</a:t>
            </a:r>
            <a:endParaRPr lang="ko-KR" sz="1200">
              <a:solidFill>
                <a:schemeClr val="tx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5E8C678-99E3-CDC3-9659-2896BF118B0B}"/>
              </a:ext>
            </a:extLst>
          </p:cNvPr>
          <p:cNvSpPr/>
          <p:nvPr/>
        </p:nvSpPr>
        <p:spPr>
          <a:xfrm>
            <a:off x="6499861" y="3017440"/>
            <a:ext cx="3337543" cy="17810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전체 서비스 실행 </a:t>
            </a:r>
            <a:endParaRPr lang="ko-KR" altLang="en-US" sz="1400">
              <a:solidFill>
                <a:schemeClr val="accent1"/>
              </a:solidFill>
              <a:latin typeface="Consolas"/>
              <a:ea typeface="맑은 고딕" panose="020B0503020000020004" pitchFamily="34" charset="-127"/>
              <a:cs typeface="+mn-lt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compose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up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-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서비스별 실행 </a:t>
            </a:r>
            <a:endParaRPr lang="ko-KR" sz="140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RAG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(port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8001)</a:t>
            </a:r>
            <a:endParaRPr lang="ko-KR" altLang="en-US" sz="1400">
              <a:solidFill>
                <a:schemeClr val="accent1"/>
              </a:solidFill>
              <a:latin typeface="Consolas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compose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up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rag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-d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 </a:t>
            </a:r>
            <a:r>
              <a:rPr lang="ko-KR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Backend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(port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8000)</a:t>
            </a:r>
            <a:endParaRPr lang="ko-KR" sz="1400">
              <a:solidFill>
                <a:schemeClr val="accent1"/>
              </a:solidFill>
              <a:latin typeface="Consolas"/>
              <a:ea typeface="+mn-lt"/>
              <a:cs typeface="+mn-lt"/>
            </a:endParaRPr>
          </a:p>
          <a:p>
            <a:r>
              <a:rPr lang="ko-KR" sz="1400" err="1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compose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up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backend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-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en-US" altLang="ko-KR" sz="1400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0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47DD4-90D1-F0AC-8A75-3397B43C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49332-2071-FC34-B691-521FE46FF82C}"/>
              </a:ext>
            </a:extLst>
          </p:cNvPr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06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설치 메뉴얼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4585C-7AB1-4F4C-BE01-212FEAD4720A}"/>
              </a:ext>
            </a:extLst>
          </p:cNvPr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설치 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9322B-2185-6CFB-AC5A-C3155FE44FF0}"/>
              </a:ext>
            </a:extLst>
          </p:cNvPr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핵심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  <a:r>
              <a:rPr lang="ko-KR" altLang="en-US" sz="1800" err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라이브러리</a:t>
            </a:r>
            <a:endParaRPr lang="ko-KR" altLang="en-US" sz="180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9E6419-BCB1-0617-C601-5153DBBDC35E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24F426-73E7-877D-7EF1-08D86B4AD9FB}"/>
              </a:ext>
            </a:extLst>
          </p:cNvPr>
          <p:cNvSpPr/>
          <p:nvPr/>
        </p:nvSpPr>
        <p:spPr>
          <a:xfrm>
            <a:off x="777240" y="2423160"/>
            <a:ext cx="5134356" cy="39192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12DED-EE6D-2A3C-FBD7-A4E148310818}"/>
              </a:ext>
            </a:extLst>
          </p:cNvPr>
          <p:cNvSpPr txBox="1"/>
          <p:nvPr/>
        </p:nvSpPr>
        <p:spPr>
          <a:xfrm>
            <a:off x="996695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5. </a:t>
            </a:r>
            <a:r>
              <a:rPr lang="ko-KR" altLang="en-US" sz="1600" spc="-30" err="1">
                <a:solidFill>
                  <a:srgbClr val="1D1D1F"/>
                </a:solidFill>
                <a:latin typeface="Aptos SemiBold"/>
              </a:rPr>
              <a:t>크롤러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 실행</a:t>
            </a:r>
            <a:r>
              <a:rPr lang="en-US" altLang="ko-KR" sz="1600" spc="-30">
                <a:solidFill>
                  <a:srgbClr val="1D1D1F"/>
                </a:solidFill>
                <a:latin typeface="Aptos SemiBold"/>
              </a:rPr>
              <a:t>(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문서수집</a:t>
            </a:r>
            <a:r>
              <a:rPr lang="en-US" altLang="ko-KR" sz="1600" spc="-30">
                <a:solidFill>
                  <a:srgbClr val="1D1D1F"/>
                </a:solidFill>
                <a:latin typeface="Aptos SemiBold"/>
              </a:rPr>
              <a:t>)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CB0137-C66D-5E4C-B910-196B55BEB43D}"/>
              </a:ext>
            </a:extLst>
          </p:cNvPr>
          <p:cNvSpPr/>
          <p:nvPr/>
        </p:nvSpPr>
        <p:spPr>
          <a:xfrm>
            <a:off x="6277356" y="2423160"/>
            <a:ext cx="5134356" cy="3881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A8227-D18F-82EE-FC44-46E3F84BDED3}"/>
              </a:ext>
            </a:extLst>
          </p:cNvPr>
          <p:cNvSpPr txBox="1"/>
          <p:nvPr/>
        </p:nvSpPr>
        <p:spPr>
          <a:xfrm>
            <a:off x="5925312" y="6419088"/>
            <a:ext cx="548640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7A7A7A"/>
                </a:solidFill>
                <a:latin typeface="Aptos"/>
              </a:rPr>
              <a:t>20</a:t>
            </a:r>
            <a:endParaRPr sz="1000">
              <a:solidFill>
                <a:srgbClr val="7A7A7A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F1EC4-18BB-0B2F-E448-0D4BBF2EC5F5}"/>
              </a:ext>
            </a:extLst>
          </p:cNvPr>
          <p:cNvSpPr txBox="1"/>
          <p:nvPr/>
        </p:nvSpPr>
        <p:spPr>
          <a:xfrm>
            <a:off x="6499861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6.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동작 확인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5653B1-9241-0671-E547-0744C63E3690}"/>
              </a:ext>
            </a:extLst>
          </p:cNvPr>
          <p:cNvSpPr/>
          <p:nvPr/>
        </p:nvSpPr>
        <p:spPr>
          <a:xfrm>
            <a:off x="996695" y="3013296"/>
            <a:ext cx="4695444" cy="30664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#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전체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 err="1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크롤링</a:t>
            </a:r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(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최초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실행</a:t>
            </a:r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)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endParaRPr lang="ko-KR" altLang="en-US" sz="140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400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docker</a:t>
            </a:r>
            <a:r>
              <a:rPr lang="en-US" sz="1400">
                <a:solidFill>
                  <a:srgbClr val="000000"/>
                </a:solidFill>
                <a:latin typeface="Consolas"/>
                <a:ea typeface="둥근펜"/>
                <a:cs typeface="+mn-lt"/>
              </a:rPr>
              <a:t> compose run --rm crawler</a:t>
            </a:r>
            <a:endParaRPr lang="ko-KR" altLang="en-US" sz="1400">
              <a:solidFill>
                <a:srgbClr val="000000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or </a:t>
            </a:r>
            <a:r>
              <a:rPr lang="en-US" altLang="ko-KR" sz="1400">
                <a:solidFill>
                  <a:srgbClr val="000000"/>
                </a:solidFill>
                <a:latin typeface="Consolas"/>
                <a:ea typeface="둥근펜"/>
                <a:cs typeface="+mn-lt"/>
              </a:rPr>
              <a:t> </a:t>
            </a:r>
            <a:endParaRPr lang="ko-KR" altLang="en-US" sz="1400">
              <a:solidFill>
                <a:srgbClr val="000000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400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docker</a:t>
            </a:r>
            <a:r>
              <a:rPr lang="en-US" sz="1400">
                <a:solidFill>
                  <a:srgbClr val="000000"/>
                </a:solidFill>
                <a:latin typeface="Consolas"/>
                <a:ea typeface="둥근펜"/>
                <a:cs typeface="+mn-lt"/>
              </a:rPr>
              <a:t> python -m </a:t>
            </a:r>
            <a:r>
              <a:rPr lang="en-US" sz="1400" err="1">
                <a:solidFill>
                  <a:srgbClr val="000000"/>
                </a:solidFill>
                <a:latin typeface="Consolas"/>
                <a:ea typeface="둥근펜"/>
                <a:cs typeface="+mn-lt"/>
              </a:rPr>
              <a:t>crawler.run</a:t>
            </a:r>
            <a:r>
              <a:rPr lang="en-US" sz="1400" err="1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.run_crawl_to_rag</a:t>
            </a:r>
            <a:r>
              <a:rPr lang="en-US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--fail-on-partial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#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증분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업데이트</a:t>
            </a:r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(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이후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주기적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실행</a:t>
            </a:r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)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 </a:t>
            </a:r>
            <a:endParaRPr lang="ko-KR" altLang="en-US" sz="140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sz="1400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docker</a:t>
            </a:r>
            <a:r>
              <a:rPr lang="en-US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compose run --rm crawler </a:t>
            </a:r>
            <a:endParaRPr lang="en-US" altLang="ko-KR" sz="1400">
              <a:solidFill>
                <a:schemeClr val="tx1"/>
              </a:solidFill>
              <a:latin typeface="Consolas"/>
              <a:ea typeface="둥근펜"/>
              <a:cs typeface="+mn-lt"/>
            </a:endParaRPr>
          </a:p>
          <a:p>
            <a:r>
              <a:rPr lang="en-US" sz="1400">
                <a:solidFill>
                  <a:schemeClr val="accent1"/>
                </a:solidFill>
                <a:latin typeface="Consolas"/>
                <a:ea typeface="둥근펜"/>
                <a:cs typeface="+mn-lt"/>
              </a:rPr>
              <a:t>or</a:t>
            </a:r>
          </a:p>
          <a:p>
            <a:r>
              <a:rPr lang="en-US" sz="1400">
                <a:solidFill>
                  <a:srgbClr val="E84509"/>
                </a:solidFill>
                <a:latin typeface="Consolas"/>
                <a:ea typeface="둥근펜"/>
                <a:cs typeface="+mn-lt"/>
              </a:rPr>
              <a:t>docker</a:t>
            </a:r>
            <a:r>
              <a:rPr lang="en-US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python -m </a:t>
            </a:r>
            <a:r>
              <a:rPr lang="en-US" sz="1400" err="1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crawler.run.run_crawl_to_rag</a:t>
            </a:r>
            <a:r>
              <a:rPr lang="en-US" sz="1400">
                <a:solidFill>
                  <a:schemeClr val="tx1"/>
                </a:solidFill>
                <a:latin typeface="Consolas"/>
                <a:ea typeface="둥근펜"/>
                <a:cs typeface="+mn-lt"/>
              </a:rPr>
              <a:t> --since-date 2026-05-01</a:t>
            </a:r>
            <a:endParaRPr lang="ko-KR" sz="1400">
              <a:solidFill>
                <a:schemeClr val="tx1"/>
              </a:solidFill>
              <a:latin typeface="Consolas"/>
              <a:ea typeface="맑은 고딕"/>
              <a:cs typeface="Calibri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B81F26-30FB-97A4-BBF1-836C96424754}"/>
              </a:ext>
            </a:extLst>
          </p:cNvPr>
          <p:cNvSpPr/>
          <p:nvPr/>
        </p:nvSpPr>
        <p:spPr>
          <a:xfrm>
            <a:off x="6499861" y="3013296"/>
            <a:ext cx="4695444" cy="24849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RAG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헬스체크</a:t>
            </a:r>
            <a:r>
              <a:rPr lang="ko-KR" altLang="en-US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rgbClr val="FFFFFF"/>
              </a:solidFill>
              <a:latin typeface="Consolas"/>
              <a:ea typeface="맑은 고딕" panose="020B0503020000020004" pitchFamily="34" charset="-127"/>
              <a:cs typeface="+mn-lt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curl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http://localhost:8001/health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Backend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헬스체크 </a:t>
            </a:r>
            <a:endParaRPr lang="ko-KR" altLang="en-US" sz="140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curl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http://localhost:8000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health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쿼리 테스트 </a:t>
            </a:r>
            <a:endParaRPr lang="ko-KR" altLang="en-US" sz="1400">
              <a:solidFill>
                <a:schemeClr val="accent1"/>
              </a:solidFill>
              <a:latin typeface="Consolas"/>
              <a:ea typeface="맑은 고딕"/>
              <a:cs typeface="+mn-lt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curl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-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X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POST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http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://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localhost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:8001/query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ko-KR" altLang="en-US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altLang="en-US" sz="1400" err="1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curl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H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"Content-Type: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application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en-US" alt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json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"</a:t>
            </a:r>
            <a:endParaRPr lang="ko-KR" sz="1400">
              <a:solidFill>
                <a:schemeClr val="tx1"/>
              </a:solidFill>
              <a:latin typeface="Consolas"/>
              <a:ea typeface="맑은 고딕"/>
              <a:cs typeface="+mn-lt"/>
            </a:endParaRPr>
          </a:p>
          <a:p>
            <a:r>
              <a:rPr lang="ko-KR" altLang="en-US" sz="1400" err="1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curl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-d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'{"</a:t>
            </a:r>
            <a:r>
              <a:rPr 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query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":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수강신청 기간이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언제야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?"}'</a:t>
            </a:r>
            <a:endParaRPr lang="ko-KR" sz="1400">
              <a:solidFill>
                <a:schemeClr val="tx1"/>
              </a:solidFill>
              <a:latin typeface="Consolas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6015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5B5A0-4B22-B9BA-2EFF-43AFFD5F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DF7C65-FFD5-B054-EA49-5E90FB58334A}"/>
              </a:ext>
            </a:extLst>
          </p:cNvPr>
          <p:cNvSpPr txBox="1"/>
          <p:nvPr/>
        </p:nvSpPr>
        <p:spPr>
          <a:xfrm>
            <a:off x="777240" y="502920"/>
            <a:ext cx="10634472" cy="241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0066CC"/>
                </a:solidFill>
                <a:latin typeface="Aptos SemiBold"/>
              </a:rPr>
              <a:t>06 · </a:t>
            </a:r>
            <a:r>
              <a:rPr lang="ko-KR" altLang="en-US" sz="1400">
                <a:solidFill>
                  <a:srgbClr val="0066CC"/>
                </a:solidFill>
                <a:latin typeface="Aptos SemiBold"/>
              </a:rPr>
              <a:t>설치 메뉴얼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5E1E6-6062-58BE-C596-692C17077B0B}"/>
              </a:ext>
            </a:extLst>
          </p:cNvPr>
          <p:cNvSpPr txBox="1"/>
          <p:nvPr/>
        </p:nvSpPr>
        <p:spPr>
          <a:xfrm>
            <a:off x="777240" y="868680"/>
            <a:ext cx="1063447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1" spc="-40">
                <a:solidFill>
                  <a:srgbClr val="1D1D1F"/>
                </a:solidFill>
                <a:latin typeface="Aptos SemiBold"/>
              </a:rPr>
              <a:t>설치 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FD54E-FA1F-179D-0E4B-DB4825CE1297}"/>
              </a:ext>
            </a:extLst>
          </p:cNvPr>
          <p:cNvSpPr txBox="1"/>
          <p:nvPr/>
        </p:nvSpPr>
        <p:spPr>
          <a:xfrm>
            <a:off x="777240" y="1719072"/>
            <a:ext cx="10634472" cy="310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연동 및 평가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A743B-0402-50D9-688A-7F824A4E3DB3}"/>
              </a:ext>
            </a:extLst>
          </p:cNvPr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56A7AC-82E3-EA35-707A-32EAC202E905}"/>
              </a:ext>
            </a:extLst>
          </p:cNvPr>
          <p:cNvSpPr/>
          <p:nvPr/>
        </p:nvSpPr>
        <p:spPr>
          <a:xfrm>
            <a:off x="777240" y="2423160"/>
            <a:ext cx="5134356" cy="39192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D0D12-94CE-4272-34D2-4B9CAC4A5243}"/>
              </a:ext>
            </a:extLst>
          </p:cNvPr>
          <p:cNvSpPr txBox="1"/>
          <p:nvPr/>
        </p:nvSpPr>
        <p:spPr>
          <a:xfrm>
            <a:off x="996695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7.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검색 품질 평가 실행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1A1012-22D5-4865-E696-2E45BCC2434A}"/>
              </a:ext>
            </a:extLst>
          </p:cNvPr>
          <p:cNvSpPr/>
          <p:nvPr/>
        </p:nvSpPr>
        <p:spPr>
          <a:xfrm>
            <a:off x="6277356" y="2423160"/>
            <a:ext cx="5134356" cy="38811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662EC-3442-C1E0-BB2F-F2BEBCA6C064}"/>
              </a:ext>
            </a:extLst>
          </p:cNvPr>
          <p:cNvSpPr txBox="1"/>
          <p:nvPr/>
        </p:nvSpPr>
        <p:spPr>
          <a:xfrm>
            <a:off x="5925312" y="6419088"/>
            <a:ext cx="548640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000">
                <a:solidFill>
                  <a:srgbClr val="7A7A7A"/>
                </a:solidFill>
                <a:latin typeface="Aptos"/>
              </a:rPr>
              <a:t>21</a:t>
            </a:r>
            <a:endParaRPr sz="1000">
              <a:solidFill>
                <a:srgbClr val="7A7A7A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34DCE-9FB7-567A-63EB-61A0CD07E510}"/>
              </a:ext>
            </a:extLst>
          </p:cNvPr>
          <p:cNvSpPr txBox="1"/>
          <p:nvPr/>
        </p:nvSpPr>
        <p:spPr>
          <a:xfrm>
            <a:off x="6499861" y="2642615"/>
            <a:ext cx="46954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spc="-30">
                <a:solidFill>
                  <a:srgbClr val="1D1D1F"/>
                </a:solidFill>
                <a:latin typeface="Aptos SemiBold"/>
              </a:rPr>
              <a:t>8. 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카카오 </a:t>
            </a:r>
            <a:r>
              <a:rPr lang="en-US" altLang="ko-KR" sz="1600" spc="-30" err="1">
                <a:solidFill>
                  <a:srgbClr val="1D1D1F"/>
                </a:solidFill>
                <a:latin typeface="Aptos SemiBold"/>
              </a:rPr>
              <a:t>i</a:t>
            </a:r>
            <a:r>
              <a:rPr lang="en-US" altLang="ko-KR" sz="1600" spc="-30">
                <a:solidFill>
                  <a:srgbClr val="1D1D1F"/>
                </a:solidFill>
                <a:latin typeface="Aptos SemiBold"/>
              </a:rPr>
              <a:t> </a:t>
            </a:r>
            <a:r>
              <a:rPr lang="ko-KR" altLang="en-US" sz="1600" spc="-30" err="1">
                <a:solidFill>
                  <a:srgbClr val="1D1D1F"/>
                </a:solidFill>
                <a:latin typeface="Aptos SemiBold"/>
              </a:rPr>
              <a:t>오픈빌더</a:t>
            </a:r>
            <a:r>
              <a:rPr lang="ko-KR" altLang="en-US" sz="1600" spc="-30">
                <a:solidFill>
                  <a:srgbClr val="1D1D1F"/>
                </a:solidFill>
                <a:latin typeface="Aptos SemiBold"/>
              </a:rPr>
              <a:t> 연동</a:t>
            </a:r>
            <a:endParaRPr sz="1600" spc="-30">
              <a:solidFill>
                <a:srgbClr val="1D1D1F"/>
              </a:solidFill>
              <a:latin typeface="Aptos SemiBold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EBB8BA-E32A-8076-E06A-33E6BAD65D41}"/>
              </a:ext>
            </a:extLst>
          </p:cNvPr>
          <p:cNvSpPr/>
          <p:nvPr/>
        </p:nvSpPr>
        <p:spPr>
          <a:xfrm>
            <a:off x="878481" y="3108291"/>
            <a:ext cx="4931871" cy="20447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36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개 대표 질문 자동 평가 </a:t>
            </a:r>
            <a:endParaRPr lang="en-US" altLang="ko-KR" sz="1400">
              <a:solidFill>
                <a:schemeClr val="accent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rgbClr val="E84509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en-US" altLang="ko-KR" sz="1400">
              <a:solidFill>
                <a:schemeClr val="tx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compose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run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--rm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rag</a:t>
            </a:r>
            <a:r>
              <a:rPr 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en-US" altLang="ko-KR" sz="1400">
              <a:solidFill>
                <a:schemeClr val="tx1"/>
              </a:solidFill>
              <a:latin typeface="Consolas"/>
              <a:ea typeface="+mn-lt"/>
              <a:cs typeface="+mn-lt"/>
            </a:endParaRPr>
          </a:p>
          <a:p>
            <a:r>
              <a:rPr lang="ko-KR" altLang="en-US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or</a:t>
            </a:r>
            <a:endParaRPr lang="ko-KR" altLang="en-US" sz="1400">
              <a:solidFill>
                <a:schemeClr val="accent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python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-m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rag.evaluation.retrieval.evaluate_retrieval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endParaRPr lang="en-US" altLang="ko-KR" sz="1400">
              <a:solidFill>
                <a:schemeClr val="tx1"/>
              </a:solidFill>
              <a:latin typeface="Consolas"/>
              <a:ea typeface="+mn-lt"/>
              <a:cs typeface="+mn-lt"/>
            </a:endParaRPr>
          </a:p>
          <a:p>
            <a:r>
              <a:rPr lang="ko-KR" altLang="en-US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or</a:t>
            </a:r>
            <a:endParaRPr lang="ko-KR" altLang="en-US" sz="1400">
              <a:solidFill>
                <a:schemeClr val="accent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--dataset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datasets/</a:t>
            </a:r>
            <a:r>
              <a:rPr lang="en-US" altLang="ko-KR" sz="140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real_queries.yaml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--tag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eval_run_1</a:t>
            </a:r>
            <a:r>
              <a:rPr lang="ko-KR" altLang="en-US" sz="140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 </a:t>
            </a:r>
            <a:endParaRPr lang="en-US" altLang="ko-KR" sz="1400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C8D0D50-DBE6-7F70-3494-745E88E95E3C}"/>
              </a:ext>
            </a:extLst>
          </p:cNvPr>
          <p:cNvSpPr/>
          <p:nvPr/>
        </p:nvSpPr>
        <p:spPr>
          <a:xfrm>
            <a:off x="6381648" y="2984072"/>
            <a:ext cx="4931871" cy="17879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카카오 </a:t>
            </a:r>
            <a:r>
              <a:rPr lang="en-US" altLang="ko-KR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i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오픈빌더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 err="1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챗봇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생성 </a:t>
            </a:r>
            <a:r>
              <a:rPr lang="en-US" altLang="ko-KR" sz="1400">
                <a:solidFill>
                  <a:srgbClr val="EA6939"/>
                </a:solidFill>
                <a:latin typeface="Consolas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https://i.kakao.com/</a:t>
            </a:r>
            <a:r>
              <a:rPr lang="ko-KR" sz="1400">
                <a:solidFill>
                  <a:srgbClr val="EA6939"/>
                </a:solidFill>
                <a:latin typeface="Consolas"/>
                <a:ea typeface="+mn-lt"/>
                <a:cs typeface="+mn-lt"/>
              </a:rPr>
              <a:t> </a:t>
            </a:r>
            <a:endParaRPr lang="en-US" altLang="ko-KR" sz="1400">
              <a:solidFill>
                <a:srgbClr val="EA6939"/>
              </a:solidFill>
              <a:latin typeface="Consolas"/>
              <a:ea typeface="+mn-lt"/>
              <a:cs typeface="+mn-lt"/>
            </a:endParaRPr>
          </a:p>
          <a:p>
            <a:endParaRPr lang="en-US" altLang="ko-KR" sz="1400">
              <a:solidFill>
                <a:schemeClr val="tx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스킬 설정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-&gt;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스킬 서버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URL</a:t>
            </a:r>
          </a:p>
          <a:p>
            <a:r>
              <a:rPr lang="ko-KR" altLang="ko-KR" sz="1400">
                <a:solidFill>
                  <a:srgbClr val="EA6939"/>
                </a:solidFill>
              </a:rPr>
              <a:t>https://[배포도메인]/api/chat</a:t>
            </a:r>
          </a:p>
          <a:p>
            <a:endParaRPr lang="en-US" altLang="ko-KR" sz="1400">
              <a:solidFill>
                <a:schemeClr val="tx1"/>
              </a:solidFill>
              <a:latin typeface="Consolas"/>
              <a:ea typeface="+mn-lt"/>
              <a:cs typeface="+mn-lt"/>
            </a:endParaRPr>
          </a:p>
          <a:p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#</a:t>
            </a:r>
            <a:r>
              <a:rPr lang="ko-KR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시나리오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-&gt;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폴백블록 </a:t>
            </a:r>
            <a:r>
              <a:rPr lang="en-US" altLang="ko-KR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-&gt; </a:t>
            </a:r>
            <a:r>
              <a:rPr lang="ko-KR" altLang="en-US" sz="1400">
                <a:solidFill>
                  <a:schemeClr val="accent1"/>
                </a:solidFill>
                <a:latin typeface="Consolas"/>
                <a:ea typeface="+mn-lt"/>
                <a:cs typeface="+mn-lt"/>
              </a:rPr>
              <a:t>스킬 연결</a:t>
            </a:r>
            <a:endParaRPr lang="en-US" altLang="ko-KR" sz="1400">
              <a:solidFill>
                <a:schemeClr val="accent1"/>
              </a:solidFill>
              <a:latin typeface="Consola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293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63447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spc="-50" err="1">
                <a:solidFill>
                  <a:schemeClr val="bg1">
                    <a:lumMod val="95000"/>
                  </a:schemeClr>
                </a:solidFill>
                <a:latin typeface="Aptos SemiBold"/>
              </a:rPr>
              <a:t>감사합니다</a:t>
            </a:r>
            <a:endParaRPr sz="5400" b="1" spc="-50">
              <a:solidFill>
                <a:schemeClr val="bg1">
                  <a:lumMod val="95000"/>
                </a:schemeClr>
              </a:solidFill>
              <a:latin typeface="Aptos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0" y="5120640"/>
            <a:ext cx="487375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CCCCCC"/>
                </a:solidFill>
                <a:latin typeface="Aptos"/>
              </a:rPr>
              <a:t>dong-gu · 동의대학교 RAG 챗봇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605301-FE11-4046-2597-80823FCFD3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56" y="3435059"/>
            <a:ext cx="3260439" cy="22342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6d51a1-a0ed-49ec-9b57-3e1db909145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5B87A5873422F45BA45F554D9EF338E" ma:contentTypeVersion="6" ma:contentTypeDescription="새 문서를 만듭니다." ma:contentTypeScope="" ma:versionID="324b8dac44e806ab8a0ff8c7e21a4d06">
  <xsd:schema xmlns:xsd="http://www.w3.org/2001/XMLSchema" xmlns:xs="http://www.w3.org/2001/XMLSchema" xmlns:p="http://schemas.microsoft.com/office/2006/metadata/properties" xmlns:ns3="b26d51a1-a0ed-49ec-9b57-3e1db9091453" targetNamespace="http://schemas.microsoft.com/office/2006/metadata/properties" ma:root="true" ma:fieldsID="a6e0a990bbc95fe761a5a5833f60091e" ns3:_="">
    <xsd:import namespace="b26d51a1-a0ed-49ec-9b57-3e1db90914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6d51a1-a0ed-49ec-9b57-3e1db9091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B15BCC-A4B6-4570-BB6F-C5F7358946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C4162D-7BB9-468C-BA29-979379C36FB4}">
  <ds:schemaRefs>
    <ds:schemaRef ds:uri="http://purl.org/dc/dcmitype/"/>
    <ds:schemaRef ds:uri="b26d51a1-a0ed-49ec-9b57-3e1db9091453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BCB8E88-C7CF-43D3-AD47-F0245CD3E4BE}">
  <ds:schemaRefs>
    <ds:schemaRef ds:uri="b26d51a1-a0ed-49ec-9b57-3e1db90914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2858</Words>
  <Application>Microsoft Office PowerPoint</Application>
  <PresentationFormat>와이드스크린</PresentationFormat>
  <Paragraphs>594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맑은 고딕</vt:lpstr>
      <vt:lpstr>Aptos</vt:lpstr>
      <vt:lpstr>Aptos Light</vt:lpstr>
      <vt:lpstr>Aptos SemiBold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해누</dc:creator>
  <cp:keywords/>
  <dc:description>generated using python-pptx</dc:description>
  <cp:lastModifiedBy>황현우</cp:lastModifiedBy>
  <cp:revision>4</cp:revision>
  <dcterms:created xsi:type="dcterms:W3CDTF">2013-01-27T09:14:16Z</dcterms:created>
  <dcterms:modified xsi:type="dcterms:W3CDTF">2026-06-03T12:50:49Z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0x01010015B87A5873422F45BA45F554D9EF338E</vt:lpwstr>
  </property>
</Properties>
</file>