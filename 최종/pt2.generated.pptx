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문항</c:v>
                </c:pt>
              </c:strCache>
            </c:strRef>
          </c:tx>
          <c:dPt>
            <c:idx val="0"/>
            <c:spPr>
              <a:solidFill>
                <a:srgbClr val="0066CC"/>
              </a:solidFill>
            </c:spPr>
          </c:dPt>
          <c:dPt>
            <c:idx val="1"/>
            <c:spPr>
              <a:solidFill>
                <a:srgbClr val="2997FF"/>
              </a:solidFill>
            </c:spPr>
          </c:dPt>
          <c:dPt>
            <c:idx val="2"/>
            <c:spPr>
              <a:solidFill>
                <a:srgbClr val="5AB0FF"/>
              </a:solidFill>
            </c:spPr>
          </c:dPt>
          <c:dPt>
            <c:idx val="3"/>
            <c:spPr>
              <a:solidFill>
                <a:srgbClr val="9AC8FF"/>
              </a:solidFill>
            </c:spPr>
          </c:dPt>
          <c:dPt>
            <c:idx val="4"/>
            <c:spPr>
              <a:solidFill>
                <a:srgbClr val="7A7A7A"/>
              </a:solidFill>
            </c:spPr>
          </c:dPt>
          <c:dPt>
            <c:idx val="5"/>
            <c:spPr>
              <a:solidFill>
                <a:srgbClr val="CCCCCC"/>
              </a:solidFill>
            </c:spPr>
          </c:dPt>
          <c:cat>
            <c:strRef>
              <c:f>Sheet1!$A$2:$A$7</c:f>
              <c:strCache>
                <c:ptCount val="6"/>
                <c:pt idx="0">
                  <c:v>학사·수강 24</c:v>
                </c:pt>
                <c:pt idx="1">
                  <c:v>생활·시설 13</c:v>
                </c:pt>
                <c:pt idx="2">
                  <c:v>학과·교직원 13</c:v>
                </c:pt>
                <c:pt idx="3">
                  <c:v>장학·등록 9</c:v>
                </c:pt>
                <c:pt idx="4">
                  <c:v>첨부·표 4</c:v>
                </c:pt>
                <c:pt idx="5">
                  <c:v>공지·국제 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13</c:v>
                </c:pt>
                <c:pt idx="2">
                  <c:v>13</c:v>
                </c:pt>
                <c:pt idx="3">
                  <c:v>9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CAPSTONE · FINAL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106344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spc="-50">
                <a:solidFill>
                  <a:srgbClr val="1D1D1F"/>
                </a:solidFill>
                <a:latin typeface="Aptos SemiBold"/>
              </a:rPr>
              <a:t>dong-gu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634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>
                <a:solidFill>
                  <a:srgbClr val="333333"/>
                </a:solidFill>
                <a:latin typeface="Aptos Light"/>
              </a:rPr>
              <a:t>동의대학교 학생 질의응답 RAG 챗봇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60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흩어진 학교 정보를 카카오톡 한 곳에서, 공식 문서에 근거해 답하다.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98932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081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OO조  ·  RAG · Crawler ·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61081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01 · 초기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왜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학교 정보는 많지만, 흩어져 있어 찾기 어렵다.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10634472" cy="1143000"/>
          </a:xfrm>
          <a:prstGeom prst="roundRect">
            <a:avLst>
              <a:gd name="adj" fmla="val 11200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>
                <a:solidFill>
                  <a:srgbClr val="333333"/>
                </a:solidFill>
                <a:latin typeface="Aptos"/>
              </a:rPr>
              <a:t>“수강신청이 언제더라? 공지가 어디 올라왔지…”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333333"/>
                </a:solidFill>
                <a:latin typeface="Aptos"/>
              </a:rPr>
              <a:t>“중간고사 기간을 찾으려 게시판·학사공지·홈페이지를 다 뒤졌는데 내용이 다 달랐어.”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3361944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4014216"/>
            <a:ext cx="2923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4672584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자동 수집 크롤러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5038344"/>
            <a:ext cx="2923032" cy="768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학교 공식 문서를 주기적으로 수집·적재한다.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3504" y="3794760"/>
            <a:ext cx="3361944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2960" y="4014216"/>
            <a:ext cx="2923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960" y="4672584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하이브리드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960" y="5038344"/>
            <a:ext cx="2923032" cy="768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의미 기반 검색 + 키워드 검색을 결합한다.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9768" y="3794760"/>
            <a:ext cx="3361944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9224" y="4014216"/>
            <a:ext cx="2923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9224" y="4672584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카카오톡 챗봇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9224" y="5038344"/>
            <a:ext cx="2923032" cy="768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학생이 늘 쓰는 채널에서 언제든 질문한다.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1264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199632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세 가지 목표가 오늘 발표의 큰 줄기입니다.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초기 목표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02 · 중간발표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중간발표까지의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기초 골격은 세웠다 — 남은 건 품질·규칙·평가.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5134356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642615"/>
            <a:ext cx="46954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완료한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08375"/>
            <a:ext cx="4695444" cy="2798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크롤러: 게시판·정적 페이지 수집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첨부(PDF·HWP·이미지) 텍스트 변환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BM25 어휘 검색 기초 파이프라인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카카오 연동 FastAPI 서버 골격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7356" y="2423160"/>
            <a:ext cx="5134356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6812" y="2642615"/>
            <a:ext cx="46954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남은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812" y="3008375"/>
            <a:ext cx="4695444" cy="2798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검색 품질 개선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도메인 규칙 게이트 적용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정량 평가 프레임워크 구축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812" y="457200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→ 최종 결과는 이 세 과제를 어떻게 풀었는지에 대한 이야기입니다.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중간발표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세 개의 독립 Docker 컨테이너로 구성된 수집→응답 파이프라인.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50592"/>
            <a:ext cx="4297680" cy="310896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3 Docker containers · independently deployable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26080"/>
            <a:ext cx="228600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918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>
                <a:solidFill>
                  <a:srgbClr val="1D1D1F"/>
                </a:solidFill>
                <a:latin typeface="Aptos SemiBold"/>
              </a:rPr>
              <a:t>Crawler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collect &amp; ingest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2926080"/>
            <a:ext cx="228600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57016" y="2926080"/>
            <a:ext cx="2286000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32918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>
                <a:solidFill>
                  <a:srgbClr val="1D1D1F"/>
                </a:solidFill>
                <a:latin typeface="Aptos SemiBold"/>
              </a:rPr>
              <a:t>RAG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36576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port 8001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2926080"/>
            <a:ext cx="2286000" cy="1188720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2918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>
                <a:solidFill>
                  <a:srgbClr val="1D1D1F"/>
                </a:solidFill>
                <a:latin typeface="Aptos SemiBold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6576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port 8000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6568" y="2926080"/>
            <a:ext cx="2286000" cy="1188720"/>
          </a:xfrm>
          <a:prstGeom prst="roundRect">
            <a:avLst>
              <a:gd name="adj" fmla="val 12307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32918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>
                <a:solidFill>
                  <a:srgbClr val="1D1D1F"/>
                </a:solidFill>
                <a:latin typeface="Aptos SemiBold"/>
              </a:rPr>
              <a:t>KakaoTalk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36576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external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3240" y="3520440"/>
            <a:ext cx="493776" cy="0"/>
          </a:xfrm>
          <a:prstGeom prst="line">
            <a:avLst/>
          </a:prstGeom>
          <a:ln w="1905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43016" y="3520440"/>
            <a:ext cx="493776" cy="0"/>
          </a:xfrm>
          <a:prstGeom prst="line">
            <a:avLst/>
          </a:prstGeom>
          <a:ln w="1905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22792" y="3520440"/>
            <a:ext cx="493776" cy="0"/>
          </a:xfrm>
          <a:prstGeom prst="line">
            <a:avLst/>
          </a:prstGeom>
          <a:ln w="1905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22792" y="411480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>
                <a:solidFill>
                  <a:srgbClr val="7A7A7A"/>
                </a:solidFill>
                <a:latin typeface="Aptos"/>
              </a:rPr>
              <a:t>webhook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434840"/>
            <a:ext cx="3361944" cy="1325880"/>
          </a:xfrm>
          <a:prstGeom prst="roundRect">
            <a:avLst>
              <a:gd name="adj" fmla="val 12413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" y="4654296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-30">
                <a:solidFill>
                  <a:srgbClr val="1D1D1F"/>
                </a:solidFill>
                <a:latin typeface="Aptos SemiBold"/>
              </a:rPr>
              <a:t>Crawl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" y="5020056"/>
            <a:ext cx="2923032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게시판·정적·첨부 수집 → 청킹 → 1024차원 벡터 적재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3504" y="4434840"/>
            <a:ext cx="3361944" cy="1325880"/>
          </a:xfrm>
          <a:prstGeom prst="roundRect">
            <a:avLst>
              <a:gd name="adj" fmla="val 12413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2960" y="4654296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-30">
                <a:solidFill>
                  <a:srgbClr val="1D1D1F"/>
                </a:solidFill>
                <a:latin typeface="Aptos SemiBold"/>
              </a:rPr>
              <a:t>Retrieve &amp; 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2960" y="5020056"/>
            <a:ext cx="2923032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하이브리드 검색 → 다신호 리랭킹 → LLM 답변 생성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434840"/>
            <a:ext cx="3361944" cy="1325880"/>
          </a:xfrm>
          <a:prstGeom prst="roundRect">
            <a:avLst>
              <a:gd name="adj" fmla="val 12413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9224" y="4654296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spc="-30">
                <a:solidFill>
                  <a:srgbClr val="1D1D1F"/>
                </a:solidFill>
                <a:latin typeface="Aptos SemiBold"/>
              </a:rPr>
              <a:t>Serve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9224" y="5020056"/>
            <a:ext cx="2923032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카카오 웹훅 수신 · 사용자 잠금 · 로그 적재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98932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605332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각 컨테이너는 독립 배포·재시작 — 장애가 번지지 않게 격리됩니다.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시스템 개요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시스템 구성 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수집의 입구(크롤러)와 응답의 출구(RAG·백엔드).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Crawler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5989320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29443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84378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86207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board + static pages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67328" y="3355848"/>
            <a:ext cx="0" cy="137160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493008"/>
            <a:ext cx="5989320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364845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478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Parse /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5661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PDF · HWP · image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67328" y="4059935"/>
            <a:ext cx="0" cy="137161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4197096"/>
            <a:ext cx="5989320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43525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5195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Chunk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2702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search-unit split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67328" y="4764024"/>
            <a:ext cx="0" cy="137159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4901183"/>
            <a:ext cx="5989320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" y="505663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95604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Embed (KoE5)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97433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1024-dim vector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67328" y="5468112"/>
            <a:ext cx="0" cy="137159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7240" y="5605271"/>
            <a:ext cx="5989320" cy="566928"/>
          </a:xfrm>
          <a:prstGeom prst="roundRect">
            <a:avLst>
              <a:gd name="adj" fmla="val 19354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5760719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660135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678423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pgvector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17920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Consolas"/>
              </a:rPr>
              <a:t>run/run_crawl_to_rag.py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450592"/>
            <a:ext cx="4279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Ask → Answer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2788920"/>
            <a:ext cx="4279392" cy="1600200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1775" y="3008376"/>
            <a:ext cx="384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5" y="3374136"/>
            <a:ext cx="3840479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카카오 웹훅 수신 · 사용자 잠금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비속어 필터 · 로그 적재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4572000"/>
            <a:ext cx="4279392" cy="1600200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51775" y="4791456"/>
            <a:ext cx="3840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RAG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5" y="5157216"/>
            <a:ext cx="3840479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검색 · 리랭킹 · 선택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규칙 게이트 · LLM 생성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72016" y="4389120"/>
            <a:ext cx="0" cy="182880"/>
          </a:xfrm>
          <a:prstGeom prst="line">
            <a:avLst/>
          </a:prstGeom>
          <a:ln w="1778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18320" y="437083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7A7A7A"/>
                </a:solidFill>
                <a:latin typeface="Aptos"/>
              </a:rPr>
              <a:t>internal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시스템 구성 요소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2997FF"/>
                </a:solidFill>
                <a:latin typeface="Aptos SemiBold"/>
              </a:rPr>
              <a:t>03 · 최종 결과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FFFFFF"/>
                </a:solidFill>
                <a:latin typeface="Aptos SemiBold"/>
              </a:rPr>
              <a:t>시스템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CCCCCC"/>
                </a:solidFill>
                <a:latin typeface="Aptos"/>
              </a:rPr>
              <a:t>품질 게이트와 폴백 체인으로 끝까지 답을 찾는다.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Intent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47672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8723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Preprocess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9155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80206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Embed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50638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31689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100">
                <a:solidFill>
                  <a:srgbClr val="272729"/>
                </a:solidFill>
                <a:latin typeface="Aptos SemiBold"/>
              </a:rPr>
              <a:t>Retrieve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02121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83172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100">
                <a:solidFill>
                  <a:srgbClr val="272729"/>
                </a:solidFill>
                <a:latin typeface="Aptos SemiBold"/>
              </a:rPr>
              <a:t>Rerank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53604" y="3108960"/>
            <a:ext cx="181052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34656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Select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05088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86139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Generate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6571" y="3108960"/>
            <a:ext cx="18105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37622" y="2788920"/>
            <a:ext cx="1170432" cy="640080"/>
          </a:xfrm>
          <a:prstGeom prst="roundRect">
            <a:avLst>
              <a:gd name="adj" fmla="val 50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100">
                <a:solidFill>
                  <a:srgbClr val="FFFFFF"/>
                </a:solidFill>
                <a:latin typeface="Aptos SemiBold"/>
              </a:rPr>
              <a:t>Postprocess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4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Aptos"/>
              </a:rPr>
              <a:t>각 단계의 점수·소요시간은 state.metadata에 기록됩니다.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2997FF"/>
                </a:solidFill>
                <a:latin typeface="Aptos SemiBold"/>
              </a:rPr>
              <a:t>On quality-gate fail 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rgbClr val="2A2A2C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663440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vector_only_retry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99262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CCCCCC"/>
                </a:solidFill>
                <a:latin typeface="Aptos"/>
              </a:rPr>
              <a:t>drop lexical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06040" y="4956048"/>
            <a:ext cx="365760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971800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rgbClr val="2A2A2C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4663440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original_query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499262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CCCCCC"/>
                </a:solidFill>
                <a:latin typeface="Aptos"/>
              </a:rPr>
              <a:t>no rewrite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00600" y="4956048"/>
            <a:ext cx="365760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66359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rgbClr val="2A2A2C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4663440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relaxed_filters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499262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CCCCCC"/>
                </a:solidFill>
                <a:latin typeface="Aptos"/>
              </a:rPr>
              <a:t>loosen src/type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95159" y="4956048"/>
            <a:ext cx="365760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60919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rgbClr val="2A2A2C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0647" y="4663440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increase_top_k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7" y="499262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CCCCCC"/>
                </a:solidFill>
                <a:latin typeface="Aptos"/>
              </a:rPr>
              <a:t>widen candidates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89719" y="4956048"/>
            <a:ext cx="365761" cy="0"/>
          </a:xfrm>
          <a:prstGeom prst="line">
            <a:avLst/>
          </a:prstGeom>
          <a:ln w="15240">
            <a:solidFill>
              <a:srgbClr val="2997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555480" y="4572000"/>
            <a:ext cx="1828800" cy="777240"/>
          </a:xfrm>
          <a:prstGeom prst="roundRect">
            <a:avLst>
              <a:gd name="adj" fmla="val 14117"/>
            </a:avLst>
          </a:prstGeom>
          <a:solidFill>
            <a:srgbClr val="2A2A2C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65207" y="4663440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FFFFFF"/>
                </a:solidFill>
                <a:latin typeface="Aptos SemiBold"/>
              </a:rPr>
              <a:t>lexical_only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65207" y="499262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CCCCCC"/>
                </a:solidFill>
                <a:latin typeface="Aptos"/>
              </a:rPr>
              <a:t>BM25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989320"/>
            <a:ext cx="10634472" cy="127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05332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Consolas"/>
              </a:rPr>
              <a:t>순서는 RAG_FALLBACK_ORDER로 설정 가능.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CCCCCC"/>
                </a:solidFill>
                <a:latin typeface="Aptos"/>
              </a:rPr>
              <a:t>시스템 설계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CCCCC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RAG 파이프라인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질문 하나가 거치는 단계와 분기 — 실제 코드 흐름 기반.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700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3" y="2999232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7A7A7A"/>
                </a:solidFill>
                <a:latin typeface="Aptos"/>
              </a:rPr>
              <a:t>INFO 판정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90572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90572" y="26700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5436" y="2999232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7A7A7A"/>
                </a:solidFill>
                <a:latin typeface="Aptos"/>
              </a:rPr>
              <a:t>정규화·키워드·재작성×4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62172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03904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26700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Embed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999232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7A7A7A"/>
                </a:solidFill>
                <a:latin typeface="Aptos"/>
              </a:rPr>
              <a:t>KoE5 1024-d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75504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17236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7236" y="26700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FFFFFF"/>
                </a:solidFill>
                <a:latin typeface="Aptos SemiBold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2099" y="2999232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  <a:latin typeface="Aptos"/>
              </a:rPr>
              <a:t>lexical+vector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88836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30568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26700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FFFFFF"/>
                </a:solidFill>
                <a:latin typeface="Aptos SemiBold"/>
              </a:rPr>
              <a:t>Rerank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1" y="2999232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FFFFFF"/>
                </a:solidFill>
                <a:latin typeface="Aptos"/>
              </a:rPr>
              <a:t>다신호 점수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02167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43900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3900" y="26700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Select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8764" y="2999232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7A7A7A"/>
                </a:solidFill>
                <a:latin typeface="Aptos"/>
              </a:rPr>
              <a:t>dedup·top-k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15500" y="2935224"/>
            <a:ext cx="141732" cy="0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57232" y="2542032"/>
            <a:ext cx="13716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7232" y="2670048"/>
            <a:ext cx="1371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Generate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999232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>
                <a:solidFill>
                  <a:srgbClr val="7A7A7A"/>
                </a:solidFill>
                <a:latin typeface="Aptos"/>
              </a:rPr>
              <a:t>LLM 생성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43000" y="3328415"/>
            <a:ext cx="0" cy="420624"/>
          </a:xfrm>
          <a:prstGeom prst="line">
            <a:avLst/>
          </a:prstGeom>
          <a:ln w="15240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77240" y="3749039"/>
            <a:ext cx="2331720" cy="566928"/>
          </a:xfrm>
          <a:prstGeom prst="roundRect">
            <a:avLst>
              <a:gd name="adj" fmla="val 19354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822191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33333"/>
                </a:solidFill>
                <a:latin typeface="Aptos"/>
              </a:rPr>
              <a:t>non-INFO / 비속어</a:t>
            </a:r>
          </a:p>
          <a:p>
            <a:pPr algn="ctr">
              <a:lnSpc>
                <a:spcPct val="105000"/>
              </a:lnSpc>
            </a:pPr>
            <a:r>
              <a:rPr sz="1050">
                <a:solidFill>
                  <a:srgbClr val="333333"/>
                </a:solidFill>
                <a:latin typeface="Aptos"/>
              </a:rPr>
              <a:t>→ 검색 생략·직접 응답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03036" y="3328415"/>
            <a:ext cx="0" cy="493776"/>
          </a:xfrm>
          <a:prstGeom prst="line">
            <a:avLst/>
          </a:prstGeom>
          <a:ln w="1651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60520" y="3822191"/>
            <a:ext cx="1554480" cy="50292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 SemiBold"/>
              </a:rPr>
              <a:t>Lexical · BM25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4443984"/>
            <a:ext cx="1554480" cy="50292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455371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 SemiBold"/>
              </a:rPr>
              <a:t>Vector · KoE5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114800"/>
            <a:ext cx="1874519" cy="566928"/>
          </a:xfrm>
          <a:prstGeom prst="roundRect">
            <a:avLst>
              <a:gd name="adj" fmla="val 19354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20624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Aptos SemiBold"/>
              </a:rPr>
              <a:t>Hybrid Fusion</a:t>
            </a:r>
          </a:p>
          <a:p>
            <a:pPr algn="ctr">
              <a:lnSpc>
                <a:spcPct val="100000"/>
              </a:lnSpc>
            </a:pPr>
            <a:r>
              <a:rPr sz="1200">
                <a:solidFill>
                  <a:srgbClr val="FFFFFF"/>
                </a:solidFill>
                <a:latin typeface="Aptos SemiBold"/>
              </a:rPr>
              <a:t>SRRF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15000" y="4069080"/>
            <a:ext cx="731520" cy="228600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715000" y="4498848"/>
            <a:ext cx="731520" cy="192024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46520" y="4718304"/>
            <a:ext cx="187451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>
                <a:solidFill>
                  <a:srgbClr val="7A7A7A"/>
                </a:solidFill>
                <a:latin typeface="Aptos"/>
              </a:rPr>
              <a:t>→ Rerank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3822191"/>
            <a:ext cx="2542032" cy="566928"/>
          </a:xfrm>
          <a:prstGeom prst="roundRect">
            <a:avLst>
              <a:gd name="adj" fmla="val 19354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38953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>
                <a:solidFill>
                  <a:srgbClr val="333333"/>
                </a:solidFill>
                <a:latin typeface="Aptos"/>
              </a:rPr>
              <a:t>규칙 게이트 적중</a:t>
            </a:r>
          </a:p>
          <a:p>
            <a:pPr algn="ctr">
              <a:lnSpc>
                <a:spcPct val="105000"/>
              </a:lnSpc>
            </a:pPr>
            <a:r>
              <a:rPr sz="1050">
                <a:solidFill>
                  <a:srgbClr val="333333"/>
                </a:solidFill>
                <a:latin typeface="Aptos"/>
              </a:rPr>
              <a:t>→ 구조화 답변 (LLM 우회)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543032" y="3328415"/>
            <a:ext cx="0" cy="493776"/>
          </a:xfrm>
          <a:prstGeom prst="line">
            <a:avLst/>
          </a:prstGeom>
          <a:ln w="15240">
            <a:solidFill>
              <a:srgbClr val="7A7A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77240" y="54406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53212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단계별 점수·소요시간은 state.metadata에 누적 · 품질 게이트 미달 시 폴백 체인으로 재검색.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파이프라인 상세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검색 설계 — 융합과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어휘·벡터를 합치고, 도메인 신호로 노이즈를 거른다.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4279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Score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443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weighted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8094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lexical .55 + vector .45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47872"/>
            <a:ext cx="427939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21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rrf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5818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Reciprocal Rank Fusion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325112"/>
            <a:ext cx="427939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389120"/>
            <a:ext cx="4279392" cy="713232"/>
          </a:xfrm>
          <a:prstGeom prst="roundRect">
            <a:avLst>
              <a:gd name="adj" fmla="val 12820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9884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srrf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53542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Softmax-RRF · 운영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760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31266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max of two scores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879592"/>
            <a:ext cx="427939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22392" y="2450592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Retrieval-quality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28346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source_type prefilter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8529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source_policy.py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83464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noise 제거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22392" y="3200400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33101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exchange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3284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retriever.py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310128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혼입 방지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22392" y="3675888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22392" y="37856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sub03 URL priority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80390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retriever.py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785616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이수표 rank↑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22392" y="4151376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22392" y="42611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attachment exempt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2793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reranker.py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261104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커리큘럼 보호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22392" y="4626864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2392" y="47365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dept boost/penalty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75487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reranker.py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736592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타 학과 억제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22392" y="5102352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22392" y="521207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career boost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5230367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Consolas"/>
              </a:rPr>
              <a:t>reranker.py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5212079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취업 페이지 우선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22392" y="5577840"/>
            <a:ext cx="598932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603504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609904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모든 임계값은 rag/retrieval/quality.py 한 곳에서 관리.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검색 설계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검색 융합 — RRF vs SRRF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순위만 보는 RRF에서, ‘강한 1등’까지 보는 SRRF로.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87168"/>
            <a:ext cx="498348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6517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1D1D1F"/>
                </a:solidFill>
                <a:latin typeface="Aptos SemiBold"/>
              </a:rPr>
              <a:t>RRF — 순위 기반 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54096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점수 대신 순위만 사용. BM25 1등 + 벡터 3등이면 두 순위를 점수로 바꿔 합산 — “두 검색 모두 상위권인가?”를 평가.</a:t>
            </a:r>
          </a:p>
          <a:p>
            <a:pPr algn="l">
              <a:lnSpc>
                <a:spcPct val="122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단, 압도적 1등과 간신히 1등을 구분하지 못함.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224528"/>
            <a:ext cx="4983480" cy="1691640"/>
          </a:xfrm>
          <a:prstGeom prst="roundRect">
            <a:avLst>
              <a:gd name="adj" fmla="val 7567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224528"/>
            <a:ext cx="4983480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389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SRRF — Softmax-RRF · 운영 채택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791456"/>
            <a:ext cx="4617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RRF에 Softmax를 더해 점수 분포를 반영. “상위권 중에서도 얼마나 강한 후보인가”까지 평가 → 두 검색이 모두 강하게 지지하는 문서가 상단으로.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432304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융합 방식 비교 — 골드셋 66문항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798064"/>
            <a:ext cx="201168" cy="1463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7432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Top-1 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2798064"/>
            <a:ext cx="201168" cy="146304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7432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Context Hit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757166"/>
            <a:ext cx="475488" cy="86639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31152" y="3822192"/>
            <a:ext cx="475488" cy="1801367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501134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0066CC"/>
                </a:solidFill>
                <a:latin typeface="Aptos SemiBold"/>
              </a:rPr>
              <a:t>37.9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356616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2997FF"/>
                </a:solidFill>
                <a:latin typeface="Aptos SemiBold"/>
              </a:rPr>
              <a:t>78.8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67842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가중합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4377690"/>
            <a:ext cx="475488" cy="124587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22792" y="3719322"/>
            <a:ext cx="475488" cy="1904238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412165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0066CC"/>
                </a:solidFill>
                <a:latin typeface="Aptos SemiBold"/>
              </a:rPr>
              <a:t>54.5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46329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2997FF"/>
                </a:solidFill>
                <a:latin typeface="Aptos SemiBold"/>
              </a:rPr>
              <a:t>83.3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67842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RRF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3200400"/>
            <a:ext cx="1371600" cy="2441448"/>
          </a:xfrm>
          <a:prstGeom prst="roundRect">
            <a:avLst>
              <a:gd name="adj" fmla="val 5333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4341114"/>
            <a:ext cx="475488" cy="128244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14432" y="3685032"/>
            <a:ext cx="475488" cy="1938528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59" y="4085082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0066CC"/>
                </a:solidFill>
                <a:latin typeface="Aptos SemiBold"/>
              </a:rPr>
              <a:t>56.1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8711" y="342900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>
                <a:solidFill>
                  <a:srgbClr val="2997FF"/>
                </a:solidFill>
                <a:latin typeface="Aptos SemiBold"/>
              </a:rPr>
              <a:t>84.8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567842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SRRF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5623560"/>
            <a:ext cx="53766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61264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19048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SRRF가 Top-1·Context Hit 모두 1위 → 운영 기본값으로 채택.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검색 융합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데이터베이스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수집 문서 저장군과 RAG 로그군으로 나뉜다.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475488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2802636"/>
            <a:ext cx="109728" cy="1097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786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title · source · url (meta only)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475488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3671316"/>
            <a:ext cx="109728" cy="1097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4728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document_contents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39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raw/clean/table/attachment/image/html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" y="4494276"/>
            <a:ext cx="109728" cy="1097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3159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1772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"/>
              </a:rPr>
              <a:t>search-unit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83480"/>
            <a:ext cx="475488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" y="5317236"/>
            <a:ext cx="109728" cy="1097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0932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chunk_embeddings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6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0066CC"/>
                </a:solidFill>
                <a:latin typeface="Aptos"/>
              </a:rPr>
              <a:t>1024-dim vector (pgvector)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3108960"/>
            <a:ext cx="0" cy="182880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" y="3977639"/>
            <a:ext cx="0" cy="182881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0080" y="4846320"/>
            <a:ext cx="0" cy="182880"/>
          </a:xfrm>
          <a:prstGeom prst="line">
            <a:avLst/>
          </a:prstGeom>
          <a:ln w="15240">
            <a:solidFill>
              <a:srgbClr val="0066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" y="3566160"/>
            <a:ext cx="274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>
                <a:solidFill>
                  <a:srgbClr val="7A7A7A"/>
                </a:solidFill>
                <a:latin typeface="Aptos"/>
              </a:rPr>
              <a:t>1:N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68880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RAG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788920"/>
            <a:ext cx="5010912" cy="1051560"/>
          </a:xfrm>
          <a:prstGeom prst="roundRect">
            <a:avLst>
              <a:gd name="adj" fmla="val 10434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9900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query_logs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558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질문 · 의도 · 카테고리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977639"/>
            <a:ext cx="5010912" cy="1051560"/>
          </a:xfrm>
          <a:prstGeom prst="roundRect">
            <a:avLst>
              <a:gd name="adj" fmla="val 10434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178807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response_logs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5445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LLM 응답 · 지연시간(ms)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166360"/>
            <a:ext cx="5010912" cy="1051560"/>
          </a:xfrm>
          <a:prstGeom prst="roundRect">
            <a:avLst>
              <a:gd name="adj" fmla="val 10434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5367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retrieval_logs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73328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검색 전략 · 점수 · 사용 청크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6163056"/>
            <a:ext cx="91440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6126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현재 documents ≈ 4,000 · chunks ≈ 17,000 적재.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데이터베이스 구성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수집 규모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144개 시드에서 출발해 약 17,000개 청크까지 — 학교 정보를 통째로.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수집 대상 — 시드 144개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4436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정적 안내 페이지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971800"/>
            <a:ext cx="2598420" cy="23774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1580" y="2926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112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게시판(목록)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538728"/>
            <a:ext cx="419100" cy="23774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2260" y="34930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60520"/>
            <a:ext cx="5120640" cy="960120"/>
          </a:xfrm>
          <a:prstGeom prst="roundRect">
            <a:avLst>
              <a:gd name="adj" fmla="val 11428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1596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학과·기관·입학·기숙사·도서관 등 50여 개 부서·기관을 출처 단위로 분류해 수집.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505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첨부 파서 — 7종 형식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803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6136" y="28803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HWP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8632" y="288036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HWPX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465576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DOCX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6136" y="3465576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XLSX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28632" y="3465576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333333"/>
                </a:solidFill>
                <a:latin typeface="Aptos SemiBold"/>
              </a:rPr>
              <a:t>PPTX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050791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1200">
                <a:solidFill>
                  <a:srgbClr val="FFFFFF"/>
                </a:solidFill>
                <a:latin typeface="Aptos SemiBold"/>
              </a:rPr>
              <a:t>이미지·OCR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16052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PDF·HWP·이미지의 표/텍스트를 파서와 한국어 OCR로 추출 → 검색 가능한 청크로 변환.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34924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spc="-50">
                <a:solidFill>
                  <a:srgbClr val="0066CC"/>
                </a:solidFill>
                <a:latin typeface="Aptos SemiBold"/>
              </a:rPr>
              <a:t>≈ 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8990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7A7A7A"/>
                </a:solidFill>
                <a:latin typeface="Aptos"/>
              </a:rPr>
              <a:t>수집 문서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5486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spc="-50">
                <a:solidFill>
                  <a:srgbClr val="0066CC"/>
                </a:solidFill>
                <a:latin typeface="Aptos SemiBold"/>
              </a:rPr>
              <a:t>≈ 17,000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608990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7A7A7A"/>
                </a:solidFill>
                <a:latin typeface="Aptos"/>
              </a:rPr>
              <a:t>검색 청크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4696" y="5486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spc="-50">
                <a:solidFill>
                  <a:srgbClr val="0066CC"/>
                </a:solidFill>
                <a:latin typeface="Aptos SemiBold"/>
              </a:rPr>
              <a:t>50+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608990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7A7A7A"/>
                </a:solidFill>
                <a:latin typeface="Aptos"/>
              </a:rPr>
              <a:t>부서·기관 출처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수집 규모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2997FF"/>
                </a:solidFill>
                <a:latin typeface="Aptos SemiBold"/>
              </a:rPr>
              <a:t>03 · 최종 결과 · 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FFFFFF"/>
                </a:solidFill>
                <a:latin typeface="Aptos SemiBold"/>
              </a:rPr>
              <a:t>소스 파일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CCCCCC"/>
                </a:solidFill>
                <a:latin typeface="Aptos"/>
              </a:rPr>
              <a:t>세 컨테이너 단위로 정리한 핵심 모듈.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3361944" cy="3291840"/>
          </a:xfrm>
          <a:prstGeom prst="roundRect">
            <a:avLst>
              <a:gd name="adj" fmla="val 4444"/>
            </a:avLst>
          </a:prstGeom>
          <a:solidFill>
            <a:srgbClr val="2A2A2C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697480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FFFFFF"/>
                </a:solidFill>
                <a:latin typeface="Aptos SemiBold"/>
              </a:rPr>
              <a:t>rag/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5" y="3127248"/>
            <a:ext cx="457200" cy="2743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3246120"/>
            <a:ext cx="297789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pipeline/chat_pipeline.py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retrieval/{retriever, search_strategy, quality}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selection/{reranker, topk_selector}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preprocess/* · generation/answer_postprocessor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prompt/prompt_builder · embedding/koe5_embedder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evaluation/goldset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3504" y="2514600"/>
            <a:ext cx="3361944" cy="3291840"/>
          </a:xfrm>
          <a:prstGeom prst="roundRect">
            <a:avLst>
              <a:gd name="adj" fmla="val 4444"/>
            </a:avLst>
          </a:prstGeom>
          <a:solidFill>
            <a:srgbClr val="2A2A2C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60" y="2697480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FFFFFF"/>
                </a:solidFill>
                <a:latin typeface="Aptos SemiBold"/>
              </a:rPr>
              <a:t>backend/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2960" y="3127248"/>
            <a:ext cx="457200" cy="2743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2960" y="3246120"/>
            <a:ext cx="297789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api/{chat, kakao, health}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services/rag_client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utils/{intent_classifier,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       kakao_template, profanity_filter}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database/{query, response, retrieval}_logs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9768" y="2514600"/>
            <a:ext cx="3361944" cy="3291840"/>
          </a:xfrm>
          <a:prstGeom prst="roundRect">
            <a:avLst>
              <a:gd name="adj" fmla="val 4444"/>
            </a:avLst>
          </a:prstGeom>
          <a:solidFill>
            <a:srgbClr val="2A2A2C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9224" y="2697480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FFFFFF"/>
                </a:solidFill>
                <a:latin typeface="Aptos SemiBold"/>
              </a:rPr>
              <a:t>crawler/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9224" y="3127248"/>
            <a:ext cx="457200" cy="2743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9224" y="3246120"/>
            <a:ext cx="297789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extractors/{board, static, image_text}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parsers/{pdf, hwp, hwpx, ooxml, image}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ingestion/{chunker, pgvector_loader,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          embed_worker}</a:t>
            </a:r>
          </a:p>
          <a:p>
            <a:pPr algn="l">
              <a:lnSpc>
                <a:spcPct val="130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ocr/korean_ocr · run/run_crawl_to_rag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989320"/>
            <a:ext cx="10634472" cy="127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05332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Aptos"/>
              </a:rPr>
              <a:t>세 컨테이너 · 하나의 파이프라인.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CCCCCC"/>
                </a:solidFill>
                <a:latin typeface="Aptos"/>
              </a:rPr>
              <a:t>소스 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CCCCC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시나리오 1 — 학사 일정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“1학기 중간고사 기간 알려줘”를 실제 파이프라인에 태운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전처리 →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206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INFO로 분류되어 검색 단계로 진입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키워드 10개 추출, 시간신호 ‘1학기’ 인식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학사일정(academic_schedule) 패밀리로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  벡터 검색 강제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canonical 필터로 후보 10→4건 축소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품질 게이트 통과 → 폴백 미발동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2450592"/>
            <a:ext cx="6153912" cy="3520440"/>
          </a:xfrm>
          <a:prstGeom prst="roundRect">
            <a:avLst>
              <a:gd name="adj" fmla="val 3116"/>
            </a:avLst>
          </a:prstGeom>
          <a:solidFill>
            <a:srgbClr val="272729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13832" y="2651760"/>
            <a:ext cx="5641848" cy="3118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$ query: "1학기 중간고사 기간 알려줘"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primary_intent      : </a:t>
            </a:r>
            <a:r>
              <a:rPr sz="1150">
                <a:solidFill>
                  <a:srgbClr val="2997FF"/>
                </a:solidFill>
                <a:latin typeface="Consolas"/>
              </a:rPr>
              <a:t>INFO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query_family        : </a:t>
            </a:r>
            <a:r>
              <a:rPr sz="1150">
                <a:solidFill>
                  <a:srgbClr val="2997FF"/>
                </a:solidFill>
                <a:latin typeface="Consolas"/>
              </a:rPr>
              <a:t>academic_schedule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keywords            : 중간고사 · 1학기 · 기간 …(10)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temporal_signals    : {semesters:[1학기]}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rewritten_queries   : 4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query_vector_size   : </a:t>
            </a:r>
            <a:r>
              <a:rPr sz="1150">
                <a:solidFill>
                  <a:srgbClr val="2997FF"/>
                </a:solidFill>
                <a:latin typeface="Consolas"/>
              </a:rPr>
              <a:t>1024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effective_strategy  : </a:t>
            </a:r>
            <a:r>
              <a:rPr sz="1150">
                <a:solidFill>
                  <a:srgbClr val="2997FF"/>
                </a:solidFill>
                <a:latin typeface="Consolas"/>
              </a:rPr>
              <a:t>vector</a:t>
            </a:r>
            <a:r>
              <a:rPr sz="1150">
                <a:solidFill>
                  <a:srgbClr val="CCCCCC"/>
                </a:solidFill>
                <a:latin typeface="Consolas"/>
              </a:rPr>
              <a:t>  (fallback: false)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retrieval_quality   : {ok:true, top1:1.15,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                       context_chars:13194}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temporal_validation : </a:t>
            </a:r>
            <a:r>
              <a:rPr sz="1150">
                <a:solidFill>
                  <a:srgbClr val="2997FF"/>
                </a:solidFill>
                <a:latin typeface="Consolas"/>
              </a:rPr>
              <a:t>matched [true]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1264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19048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모든 수치는 state.to_log_dict() 실제 출력 (2026-06-02).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시나리오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시나리오 1 — 학사 일정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다신호 리랭킹이 공식 페이지를 1등으로, LLM이 근거로 답한다.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50592"/>
            <a:ext cx="6766560" cy="2697480"/>
          </a:xfrm>
          <a:prstGeom prst="roundRect">
            <a:avLst>
              <a:gd name="adj" fmla="val 4067"/>
            </a:avLst>
          </a:prstGeom>
          <a:solidFill>
            <a:srgbClr val="272729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651760"/>
            <a:ext cx="6254496" cy="2295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reranked → selected : 20 → 3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[1] 학사일정 페이지   rerank_score: </a:t>
            </a:r>
            <a:r>
              <a:rPr sz="1150">
                <a:solidFill>
                  <a:srgbClr val="2997FF"/>
                </a:solidFill>
                <a:latin typeface="Consolas"/>
              </a:rPr>
              <a:t>8.99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    signals: canonical 3.0 + family_boost 2.48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             + verified_title 1.5 + heading 0.8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    (attachment chunk: family_penalty -2.8)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answer_input : context 3,989 · prompt 4,551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negative_repair : null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85232"/>
            <a:ext cx="6766560" cy="1005840"/>
          </a:xfrm>
          <a:prstGeom prst="roundRect">
            <a:avLst>
              <a:gd name="adj" fmla="val 10909"/>
            </a:avLst>
          </a:prstGeom>
          <a:solidFill>
            <a:srgbClr val="272729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5486400"/>
            <a:ext cx="6254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timings(ms): classify 0 · preprocess 5569 · embed 458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   retrieve 13057 · select 11 · generate 2961  (cold start)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450592"/>
            <a:ext cx="3593592" cy="3840480"/>
          </a:xfrm>
          <a:prstGeom prst="roundRect">
            <a:avLst>
              <a:gd name="adj" fmla="val 4071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5" y="26700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최종 답변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5" y="315468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spc="-20">
                <a:solidFill>
                  <a:srgbClr val="1D1D1F"/>
                </a:solidFill>
                <a:latin typeface="Aptos SemiBold"/>
              </a:rPr>
              <a:t>“1학기 중간고사 기간은 4월 21일부터 27일까지입니다.”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5" y="5257800"/>
            <a:ext cx="3154680" cy="127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7575" y="5376672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학교 공식 학사일정 페이지에 근거한, 군더더기 없는 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시나리오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시나리오 2 — 비정보성 질의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“안녕”은 검색을 타지 않고 입구에서 바로 처리한다.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입구에서 분기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4206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GENERAL로 분류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전처리·임베딩·검색·생성을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  전부 건너뜀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실행된 단계는 classify 하나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비속어는 PROFANITY로 차단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  <a:latin typeface="Aptos"/>
              </a:rPr>
              <a:t>• 불필요한 검색 비용·오답을 원천 차단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2450592"/>
            <a:ext cx="6153912" cy="3246120"/>
          </a:xfrm>
          <a:prstGeom prst="roundRect">
            <a:avLst>
              <a:gd name="adj" fmla="val 3380"/>
            </a:avLst>
          </a:prstGeom>
          <a:solidFill>
            <a:srgbClr val="272729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13832" y="2651760"/>
            <a:ext cx="5641848" cy="2843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$ query: "안녕"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primary_intent      : </a:t>
            </a:r>
            <a:r>
              <a:rPr sz="1150">
                <a:solidFill>
                  <a:srgbClr val="2997FF"/>
                </a:solidFill>
                <a:latin typeface="Consolas"/>
              </a:rPr>
              <a:t>GENERAL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timings             : [classify_primary_intent]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                       ← only stage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retrieved_doc_count : </a:t>
            </a:r>
            <a:r>
              <a:rPr sz="1150">
                <a:solidFill>
                  <a:srgbClr val="2997FF"/>
                </a:solidFill>
                <a:latin typeface="Consolas"/>
              </a:rPr>
              <a:t>0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CCCCCC"/>
                </a:solidFill>
                <a:latin typeface="Consolas"/>
              </a:rPr>
              <a:t>selected_doc_count  : </a:t>
            </a:r>
            <a:r>
              <a:rPr sz="1150">
                <a:solidFill>
                  <a:srgbClr val="2997FF"/>
                </a:solidFill>
                <a:latin typeface="Consolas"/>
              </a:rPr>
              <a:t>0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answer &gt;&gt; 안녕하세요. 동의대학교 정보 안내를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FFFFFF"/>
                </a:solidFill>
                <a:latin typeface="Consolas"/>
              </a:rPr>
              <a:t>          도와드리고 있어요…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12648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19048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입구에서 질문 성격을 가리면 속도와 품질을 동시에 지킨다.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시나리오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마주친 문제 →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데이터가 지저분할수록 RAG는 어렵다 — 발견하고, 고치고, 숫자로 확인했다.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323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C0392B"/>
                </a:solidFill>
                <a:latin typeface="Aptos SemiBold"/>
              </a:rPr>
              <a:t>발견한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43230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D1D1F"/>
                </a:solidFill>
                <a:latin typeface="Aptos SemiBold"/>
              </a:rPr>
              <a:t>해결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32304"/>
            <a:ext cx="2862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효과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990088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7121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PDF 바이너리·메뉴 노이즈 유입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87121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source_type 프리필터 + 파서 라우팅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871216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검색 노이즈 제거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37560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02152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8328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HWP·이미지 첨부 본문 누락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38328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HWP/HWPX 파서 + 한국어 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83280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첨부 표·텍스트 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49624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14215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89534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중복 청크가 컨텍스트 점유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895344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dedup·다양성 기반 top-k 선택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895344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근거 다양성 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61688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526280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40740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타 학과명 혼입(substring 오매칭)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40740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학과 경계 매칭(_dept_token_in_text)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407408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학과 Context 67→83%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873752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038344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9194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게시판 복제 공지가 정답 밀어냄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919472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board-noise 페널티 + 규칙 게이트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919472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공식 페이지 우선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385816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550408"/>
            <a:ext cx="73152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43153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1D1D1F"/>
                </a:solidFill>
                <a:latin typeface="Aptos"/>
              </a:rPr>
              <a:t>근거 있어도 답변 거절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543153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거절 프롬프트 재설계 + repair 강화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5431536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거절 12.1→3.0%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897880"/>
            <a:ext cx="10634472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05332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“잘 만든 것”이 아니라 “무슨 문제를 풀었는가” — 데이터 품질이 RAG 품질의 8할.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문제 → 해결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독창성 및 차별성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감이 아니라 숫자로 검증하며 만든 검색 품질.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2452878" cy="3383280"/>
          </a:xfrm>
          <a:prstGeom prst="roundRect">
            <a:avLst>
              <a:gd name="adj" fmla="val 671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734056"/>
            <a:ext cx="20139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392424"/>
            <a:ext cx="20139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SRRF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3758184"/>
            <a:ext cx="2013966" cy="1956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Softmax-RRF를 직접 구현하고 운영에 적용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4438" y="2514600"/>
            <a:ext cx="2452878" cy="3383280"/>
          </a:xfrm>
          <a:prstGeom prst="roundRect">
            <a:avLst>
              <a:gd name="adj" fmla="val 671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3894" y="2734056"/>
            <a:ext cx="20139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3894" y="3392424"/>
            <a:ext cx="20139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Rule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3894" y="3758184"/>
            <a:ext cx="2013966" cy="1956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정형 질의는 LLM 우회 → 환각 차단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2514600"/>
            <a:ext cx="2452878" cy="3383280"/>
          </a:xfrm>
          <a:prstGeom prst="roundRect">
            <a:avLst>
              <a:gd name="adj" fmla="val 671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2734056"/>
            <a:ext cx="20139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3392424"/>
            <a:ext cx="20139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Fallback + Rerank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1092" y="3758184"/>
            <a:ext cx="2013966" cy="1956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실패 시 전략 전환·다신호 재정렬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834" y="2514600"/>
            <a:ext cx="2452878" cy="3383280"/>
          </a:xfrm>
          <a:prstGeom prst="roundRect">
            <a:avLst>
              <a:gd name="adj" fmla="val 671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8290" y="2734056"/>
            <a:ext cx="20139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spc="-50">
                <a:solidFill>
                  <a:srgbClr val="0066CC"/>
                </a:solidFill>
                <a:latin typeface="Aptos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8290" y="3392424"/>
            <a:ext cx="20139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66-Q 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8290" y="3758184"/>
            <a:ext cx="2013966" cy="1956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정량 평가 + 측정 정직화 가드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03504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09904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Measured, not guessed.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독창성 및 차별성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분담 내용 및 수행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역할 분담 (이름은 예시 — 실제 팀원으로 교체).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10634472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7919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조장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6791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RAG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6974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오케스트레이터 · 폴백 · 품질 게이트 · 아키텍처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64408"/>
            <a:ext cx="10634472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팀원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29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크롤러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44728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게시판·첨부 파싱 · pgvector 적재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14215"/>
            <a:ext cx="10634472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78807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팀원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17880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검색·리랭킹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19709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retriever · reranker · 하이브리드 융합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64024"/>
            <a:ext cx="10634472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2861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팀원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92861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백엔드·인프라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94690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FastAPI · 카카오 웹훅 · Docker · Supabase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13832"/>
            <a:ext cx="10634472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7842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0066CC"/>
                </a:solidFill>
                <a:latin typeface="Aptos SemiBold"/>
              </a:rPr>
              <a:t>팀원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67842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1D1D1F"/>
                </a:solidFill>
                <a:latin typeface="Aptos SemiBold"/>
              </a:rPr>
              <a:t>전처리·평가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569671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쿼리 전처리 · 골드셋 · 자동 평가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분담 내용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배우고 느낀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예시 문구 — 실제 팀원 소감으로 교체하세요.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3361944" cy="338328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734056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조장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99816"/>
            <a:ext cx="2923032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검색 품질은 한 기법이 아니라 여러 신호의 조합이라는 걸 체감했다. 정량 평가가 없었다면 자기만족에 그쳤을 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3504" y="2514600"/>
            <a:ext cx="3361944" cy="338328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2960" y="2734056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크롤러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60" y="3099816"/>
            <a:ext cx="2923032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PDF·HWP·이미지처럼 제각각인 첨부를 일관된 텍스트로 만들며, 데이터 전처리가 품질의 8할임을 실감했다.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9768" y="2514600"/>
            <a:ext cx="3361944" cy="338328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9224" y="2734056"/>
            <a:ext cx="292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spc="-30">
                <a:solidFill>
                  <a:srgbClr val="1D1D1F"/>
                </a:solidFill>
                <a:latin typeface="Aptos SemiBold"/>
              </a:rPr>
              <a:t>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9224" y="3099816"/>
            <a:ext cx="2923032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90%대 점수에 만족하다 평가 매칭 버그를 발견했고, 정직한 측정이 좋은 점수보다 중요함을 배웠다.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03504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9904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한 번에 서비스가 굴러가는 전 과정을 경험한 프로젝트.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느낀 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03 · 최종 결과 · 3.8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평가 데이터셋 — 66문항 골드셋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감이 아니라 숫자로 — 팀이 직접 만들고 공식 출처로 검증한 정답셋.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3230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질문 카테고리 (22종 → 6묶음)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697480"/>
          <a:ext cx="50292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2432304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어떻게 검증했나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43200"/>
            <a:ext cx="5376672" cy="13716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2907792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• 팀이 실제 학생 질문 유형으로 66문항 직접 작성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• 정답 근거를 DB document_id로 조회 검증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• 웹 출처는 공식 URL을 직접 열어 교차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15968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출처 유형 · 난이도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6451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"/>
              </a:rPr>
              <a:t>DB 기반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681728"/>
            <a:ext cx="1695796" cy="1828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5316" y="46451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 SemiBold"/>
              </a:rPr>
              <a:t>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0292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"/>
              </a:rPr>
              <a:t>웹페이지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5065776"/>
            <a:ext cx="1318952" cy="18288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8472" y="5029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 SemiBold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4132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D1D1F"/>
                </a:solidFill>
                <a:latin typeface="Aptos"/>
              </a:rPr>
              <a:t>첨부파일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5449824"/>
            <a:ext cx="94210" cy="182880"/>
          </a:xfrm>
          <a:prstGeom prst="rect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3730" y="541324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333333"/>
                </a:solidFill>
                <a:latin typeface="Aptos Semi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870448"/>
            <a:ext cx="5376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난이도: easy 24 · medium 28 · hard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평가 데이터셋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2997FF"/>
                </a:solidFill>
                <a:latin typeface="Aptos SemiBold"/>
              </a:rPr>
              <a:t>03 · 최종 결과 · 3.8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FFFFFF"/>
                </a:solidFill>
                <a:latin typeface="Aptos SemiBold"/>
              </a:rPr>
              <a:t>주요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CCCCCC"/>
                </a:solidFill>
                <a:latin typeface="Aptos"/>
              </a:rPr>
              <a:t>골드셋 66문항 — 결정적 지표 중심으로, 정직하게.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87.9%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Top-5 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2542032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87.9%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3383280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Context Hit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8344" y="2542032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95.9%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3383280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8896" y="2542032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80.3%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3383280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2542032"/>
            <a:ext cx="2112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spc="-50">
                <a:solidFill>
                  <a:srgbClr val="2997FF"/>
                </a:solidFill>
                <a:latin typeface="Aptos SemiBold"/>
              </a:rPr>
              <a:t>3.0%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9448" y="3383280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CCCCCC"/>
                </a:solidFill>
                <a:latin typeface="Aptos"/>
              </a:rPr>
              <a:t>Refused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886200"/>
            <a:ext cx="1063447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4164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2997FF"/>
                </a:solidFill>
                <a:latin typeface="Aptos SemiBold"/>
              </a:rPr>
              <a:t>Baseline →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2569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FFFFFF"/>
                </a:solidFill>
                <a:latin typeface="Aptos"/>
              </a:rPr>
              <a:t>Answer Refused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462272"/>
            <a:ext cx="287670" cy="11887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4636008"/>
            <a:ext cx="71323" cy="11887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44398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Consolas"/>
              </a:rPr>
              <a:t>12.1 → 3.0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5604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FFFFFF"/>
                </a:solidFill>
                <a:latin typeface="Aptos"/>
              </a:rPr>
              <a:t>Answer Correct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992624"/>
            <a:ext cx="1692737" cy="11887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5166360"/>
            <a:ext cx="1909084" cy="11887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497433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Consolas"/>
              </a:rPr>
              <a:t>71.2 → 80.3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FFFFFF"/>
                </a:solidFill>
                <a:latin typeface="Aptos"/>
              </a:rPr>
              <a:t>학과별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5522976"/>
            <a:ext cx="1592884" cy="11887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5696712"/>
            <a:ext cx="1973275" cy="118872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55046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Consolas"/>
              </a:rPr>
              <a:t>67 → 83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114800"/>
            <a:ext cx="4553712" cy="182880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 w="1270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77456" y="429768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FFFFFF"/>
                </a:solidFill>
                <a:latin typeface="Aptos"/>
              </a:rPr>
              <a:t>Context Hit이 92.4%까지 올랐지만, 평가 매칭 버그를 바로잡아 정직한 87.9%로 보고합니다.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7456" y="5440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CCCCCC"/>
                </a:solidFill>
                <a:latin typeface="Aptos"/>
              </a:rPr>
              <a:t>남은 과제: 기숙사 DB 갭 · LLM 분산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6126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CCCCCC"/>
                </a:solidFill>
                <a:latin typeface="Aptos"/>
              </a:rPr>
              <a:t>Goldset 66 Q · 2026-06-02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CCCCCC"/>
                </a:solidFill>
                <a:latin typeface="Aptos"/>
              </a:rPr>
              <a:t>주요 성과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CCCCCC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04 ·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결론 및 향후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흩어진 정보를, 한 곳에서, 근거와 함께.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유사 서비스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2976" y="2743200"/>
            <a:ext cx="1344168" cy="2926080"/>
          </a:xfrm>
          <a:prstGeom prst="roundRect">
            <a:avLst>
              <a:gd name="adj" fmla="val 6802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1635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81635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홈페이지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81635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1D1D1F"/>
                </a:solidFill>
                <a:latin typeface="Aptos SemiBold"/>
              </a:rPr>
              <a:t>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81635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>
                <a:solidFill>
                  <a:srgbClr val="0066CC"/>
                </a:solidFill>
                <a:latin typeface="Aptos SemiBold"/>
              </a:rPr>
              <a:t>dong-gu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18688"/>
            <a:ext cx="6035040" cy="127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자연어 질의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467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3467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3467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673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0390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공식 문서 기반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8039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8039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8039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2245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6110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첨부파일 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2611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2611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2611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6817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1830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카카오톡 사용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7183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7183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7183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1389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7550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333333"/>
                </a:solidFill>
                <a:latin typeface="Aptos"/>
              </a:rPr>
              <a:t>근거 출처 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1755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1755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7A7A7A"/>
                </a:solidFill>
                <a:latin typeface="Aptos SemiBold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517550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0066CC"/>
                </a:solidFill>
                <a:latin typeface="Aptos SemiBold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596128"/>
            <a:ext cx="6035040" cy="635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95160" y="2697480"/>
            <a:ext cx="4416552" cy="3154680"/>
          </a:xfrm>
          <a:prstGeom prst="roundRect">
            <a:avLst>
              <a:gd name="adj" fmla="val 5217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14616" y="2916936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향후 과제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4616" y="3282696"/>
            <a:ext cx="3977639" cy="238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• 평가 다회 평균화로 분산 완화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• 재크롤링 확대로 DB 갭 보완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• cross-encoder 리랭커 도입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• repair 커버리지 확대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035040"/>
            <a:ext cx="10634472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099048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Aptos"/>
              </a:rPr>
              <a:t>학생이 늘 쓰는 카카오톡에서, 공식 문서에 근거한 답을.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결론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0066CC"/>
                </a:solidFill>
                <a:latin typeface="Aptos SemiBold"/>
              </a:rPr>
              <a:t>05 · 참고문헌 · 설치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447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spc="-40">
                <a:solidFill>
                  <a:srgbClr val="1D1D1F"/>
                </a:solidFill>
                <a:latin typeface="Aptos SemiBold"/>
              </a:rPr>
              <a:t>참고문헌 &amp; 설치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19072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7A7A7A"/>
                </a:solidFill>
                <a:latin typeface="Aptos"/>
              </a:rPr>
              <a:t>원논문·핵심 라이브러리와 한 줄 설치 절차.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634472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5134356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642615"/>
            <a:ext cx="46954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08375"/>
            <a:ext cx="4695444" cy="2798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1. Lewis et al. (2020) — RAG, NeurIPS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2. Robertson &amp; Zaragoza (2009) — BM25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3. NAVER (2023) — KoE5 embedding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4. Supabase pgvector docs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5. Kakao i 오픈빌더 가이드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6. bab2min (2021) — Kiwi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7356" y="2423160"/>
            <a:ext cx="5134356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6812" y="2642615"/>
            <a:ext cx="46954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spc="-30">
                <a:solidFill>
                  <a:srgbClr val="1D1D1F"/>
                </a:solidFill>
                <a:latin typeface="Aptos SemiBold"/>
              </a:rPr>
              <a:t>Install (요약)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812" y="3008375"/>
            <a:ext cx="4695444" cy="2798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1) docker compose up -d  (3 services)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2) .env 설정 (OpenAI · KoE5 · srrf)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3) DB 초기화 + pgvector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4) 크롤러로 문서 적재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Aptos"/>
              </a:rPr>
              <a:t>5) 카카오 오픈빌더에 스킬 URL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812" y="54406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7A7A7A"/>
                </a:solidFill>
                <a:latin typeface="Aptos"/>
              </a:rPr>
              <a:t>자세한 절차는 부록 매뉴얼 참고.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참고문헌 · 설치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rgbClr val="7A7A7A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2997FF"/>
                </a:solidFill>
                <a:latin typeface="Aptos SemiBold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51760"/>
            <a:ext cx="106344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spc="-50">
                <a:solidFill>
                  <a:srgbClr val="FFFFFF"/>
                </a:solidFill>
                <a:latin typeface="Aptos SemiBold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10634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>
                <a:solidFill>
                  <a:srgbClr val="CCCCCC"/>
                </a:solidFill>
                <a:latin typeface="Aptos"/>
              </a:rPr>
              <a:t>흩어진 학교 정보를, 카카오톡 한 곳에서, 공식 문서에 근거해.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120640"/>
            <a:ext cx="4873752" cy="1270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03520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CCCCCC"/>
                </a:solidFill>
                <a:latin typeface="Aptos"/>
              </a:rPr>
              <a:t>dong-gu · 동의대학교 RAG 챗봇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